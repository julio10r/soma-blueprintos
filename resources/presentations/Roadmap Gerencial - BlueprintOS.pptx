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.ai/PROJECT_STATE.md (30/07/2026)</a:t>
            </a:r>
          </a:p>
          <a:p>
            <a:r>
              <a:t>- .ai/BACKLOG.md</a:t>
            </a:r>
          </a:p>
          <a:p>
            <a:r>
              <a:t>- .ai/memory/completed_sprints.md</a:t>
            </a:r>
          </a:p>
          <a:p>
            <a:r>
              <a:t>- .ai/CURRENT_SPRINT.md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.ai/PROJECT_STATE.md (30/07/2026)</a:t>
            </a:r>
          </a:p>
          <a:p>
            <a:r>
              <a:t>- .ai/BACKLOG.md</a:t>
            </a:r>
          </a:p>
          <a:p>
            <a:r>
              <a:t>- .ai/memory/completed_sprints.md</a:t>
            </a:r>
          </a:p>
          <a:p>
            <a:r>
              <a:t>- .ai/CURRENT_SPRINT.md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.ai/PROJECT_STATE.md (30/07/2026)</a:t>
            </a:r>
          </a:p>
          <a:p>
            <a:r>
              <a:t>- .ai/BACKLOG.md</a:t>
            </a:r>
          </a:p>
          <a:p>
            <a:r>
              <a:t>- .ai/memory/completed_sprints.md</a:t>
            </a:r>
          </a:p>
          <a:p>
            <a:r>
              <a:t>- .ai/CURRENT_SPRINT.md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.ai/PROJECT_STATE.md (30/07/2026)</a:t>
            </a:r>
          </a:p>
          <a:p>
            <a:r>
              <a:t>- .ai/BACKLOG.md</a:t>
            </a:r>
          </a:p>
          <a:p>
            <a:r>
              <a:t>- .ai/memory/completed_sprints.md</a:t>
            </a:r>
          </a:p>
          <a:p>
            <a:r>
              <a:t>- .ai/CURRENT_SPRINT.md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.ai/PROJECT_STATE.md (30/07/2026)</a:t>
            </a:r>
          </a:p>
          <a:p>
            <a:r>
              <a:t>- .ai/BACKLOG.md</a:t>
            </a:r>
          </a:p>
          <a:p>
            <a:r>
              <a:t>- .ai/memory/completed_sprints.md</a:t>
            </a:r>
          </a:p>
          <a:p>
            <a:r>
              <a:t>- .ai/CURRENT_SPRINT.md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.ai/PROJECT_STATE.md (30/07/2026)</a:t>
            </a:r>
          </a:p>
          <a:p>
            <a:r>
              <a:t>- .ai/BACKLOG.md</a:t>
            </a:r>
          </a:p>
          <a:p>
            <a:r>
              <a:t>- .ai/memory/completed_sprints.md</a:t>
            </a:r>
          </a:p>
          <a:p>
            <a:r>
              <a:t>- .ai/CURRENT_SPRINT.md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.ai/PROJECT_STATE.md (30/07/2026)</a:t>
            </a:r>
          </a:p>
          <a:p>
            <a:r>
              <a:t>- .ai/BACKLOG.md</a:t>
            </a:r>
          </a:p>
          <a:p>
            <a:r>
              <a:t>- .ai/memory/completed_sprints.md</a:t>
            </a:r>
          </a:p>
          <a:p>
            <a:r>
              <a:t>- .ai/CURRENT_SPRINT.md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.ai/PROJECT_STATE.md (30/07/2026)</a:t>
            </a:r>
          </a:p>
          <a:p>
            <a:r>
              <a:t>- .ai/BACKLOG.md</a:t>
            </a:r>
          </a:p>
          <a:p>
            <a:r>
              <a:t>- .ai/memory/completed_sprints.md</a:t>
            </a:r>
          </a:p>
          <a:p>
            <a:r>
              <a:t>- .ai/CURRENT_SPRINT.md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.ai/PROJECT_STATE.md (30/07/2026)</a:t>
            </a:r>
          </a:p>
          <a:p>
            <a:r>
              <a:t>- .ai/BACKLOG.md</a:t>
            </a:r>
          </a:p>
          <a:p>
            <a:r>
              <a:t>- .ai/memory/completed_sprints.md</a:t>
            </a:r>
          </a:p>
          <a:p>
            <a:r>
              <a:t>- .ai/CURRENT_SPRINT.md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.ai/PROJECT_STATE.md (30/07/2026)</a:t>
            </a:r>
          </a:p>
          <a:p>
            <a:r>
              <a:t>- .ai/BACKLOG.md</a:t>
            </a:r>
          </a:p>
          <a:p>
            <a:r>
              <a:t>- .ai/memory/completed_sprints.md</a:t>
            </a:r>
          </a:p>
          <a:p>
            <a:r>
              <a:t>- .ai/CURRENT_SPRINT.md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.ai/PROJECT_STATE.md (30/07/2026)</a:t>
            </a:r>
          </a:p>
          <a:p>
            <a:r>
              <a:t>- .ai/BACKLOG.md</a:t>
            </a:r>
          </a:p>
          <a:p>
            <a:r>
              <a:t>- .ai/memory/completed_sprints.md</a:t>
            </a:r>
          </a:p>
          <a:p>
            <a:r>
              <a:t>- .ai/CURRENT_SPRINT.md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.ai/BACKLOG.md</a:t>
            </a:r>
          </a:p>
          <a:p>
            <a:r>
              <a:t>- .ai/workorders/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2009E-7037-4E5D-A29C-4F7EC3689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3D0508-9FDD-40C7-AA34-C77F05F4B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EDF14-CE17-4CB7-AA07-D82D3CE2B37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30/07/2026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A57C7-252F-4783-AD99-6F75E2E670A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A1204-886A-42C5-8B3C-C411071AD5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9A03-F156-4A46-9893-881097B97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FE990-AE56-4FA9-AD2E-9A4CE1155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F85C0-CBB3-4F7B-8752-FFDB01DA9E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30/07/2026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4B19B-451A-42EC-8187-B6EC2FF375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9CC35-3B91-4CA5-8AE9-CC5D597AE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F72DE-73A2-4457-824E-8C5367F51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EFD47-576F-44DA-9EAE-D2F88F7DD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9AE78-574D-45A7-82FA-24872723D0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30/07/2026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71FBB-D355-49F2-8F50-C60F63FC98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545F8-32B0-40ED-A6EA-438C7344FD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73929-64B6-4F7F-B202-8C7A9DD72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AB20-84F6-4C30-A73F-D14B27B58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07B1C-73F1-454F-A1AC-306871180E2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D5D8F-1D54-43F3-9869-F067CFA29DE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30/07/2026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5871F-1E57-44AD-9647-3B534631D8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D1248-A1A8-4508-8CCB-FF8D2FBDDA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D264-E8B0-4746-8C88-326E23D4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2FDEE-1170-4F1C-8C2E-F6638762C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4FDDC-0923-4715-B789-F8896394CD2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37E12F-BA23-451B-912B-E0223BAE803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127228-7FBA-4ACE-86A7-752BC08B038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B8AF78-FB35-491D-96DA-C0114FEEC97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30/07/2026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BB2A64-40DC-4F15-98B9-A43D5645D4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C141F0-0913-4CBD-85A5-8A4FB06C7E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A7D0E-6C21-4846-847A-31E3B0BD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BE50D4-334A-49DC-8115-CD3966BF548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30/07/2026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8FF5B-16CA-42EE-8400-DE5440C56D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CE34D-8286-43AB-9ADE-631BD9CA04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989A6-09D4-49D1-A673-2431C24F07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30/07/2026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5CAD58-018F-4491-A089-0572E1D7D8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BF5FA-34DF-4CC2-B3D0-6DE297CBB1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8AE0E-99C1-419E-AD90-05765E26D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E9F0F-6CE1-4A68-A4CE-9E65D4E2C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318BA-C862-423D-9370-E5E410D1AAC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8B441-9615-4137-AEF8-5CDED58C67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30/07/2026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D35A5-D139-4F6D-A2ED-2D19D841F5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F3D21-745E-4624-A8DE-FBC92784BB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D8BA3-43DF-4649-84B3-C833835A0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DE8FB5-976A-47CF-8D2B-2A01720AE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EE668-1912-422B-AF1B-0A179B22F66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60292-EAF9-4C9A-B341-F8DD3452C90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30/07/2026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F365E-CA14-46A5-95C2-18A97F065A8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B9E8A-8649-4080-9D90-D5BFC273D7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2B94E-AE23-4282-A3C6-3D265E270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06C1B-2362-489A-9CD0-9DA193E07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8E6B8-8E94-46F0-B347-4D4C70EDBF3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30/07/2026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ED5BA-D0D1-4471-8AF0-726B0D9D307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3CF07-E5B8-42D1-969F-F2A12623E9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8D8F27-6C49-4436-BF88-015AEDC6A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74664-5307-4E81-8504-C47C7065B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17DCA-1780-4464-A782-C785BE8901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30/07/2026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F6B07-5635-4513-A0B5-0CCD9D22A4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08FE4-A6C6-4208-852D-95046DAE84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296396-4DCF-4FB0-828D-70B35B8ED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7973B-50E5-4E78-88EA-37414DF1B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C72A0-6BDA-4DA2-9558-2610C8B340D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30/07/2026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BAD72-6B33-4605-A91A-54997876E43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3CDE0-2709-42B1-878A-562F9138F66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E0F407-5B57-460C-AD64-91F279BAF6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095" y="365760"/>
            <a:ext cx="914400" cy="296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78C535-AEEC-4E31-AA02-C54D72D87E18}"/>
              </a:ext>
            </a:extLst>
          </p:cNvPr>
          <p:cNvSpPr>
            <a:spLocks noGrp="1"/>
          </p:cNvSpPr>
          <p:nvPr/>
        </p:nvSpPr>
        <p:spPr>
          <a:xfrm>
            <a:off x="731520" y="420624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200" b="1" i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Roadmap Gerencial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F9D48-548B-4BC0-AFDF-4FD2FC9071AC}"/>
              </a:ext>
            </a:extLst>
          </p:cNvPr>
          <p:cNvSpPr>
            <a:spLocks noGrp="1"/>
          </p:cNvSpPr>
          <p:nvPr/>
        </p:nvSpPr>
        <p:spPr>
          <a:xfrm>
            <a:off x="731520" y="49834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BlueprintOS / +COMPRAS | acompanhamento da diretoria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412A79-09DD-43E7-9411-0D421A8A28E3}"/>
              </a:ext>
            </a:extLst>
          </p:cNvPr>
          <p:cNvSpPr>
            <a:spLocks noGrp="1"/>
          </p:cNvSpPr>
          <p:nvPr/>
        </p:nvSpPr>
        <p:spPr>
          <a:xfrm>
            <a:off x="731520" y="553212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E8E8E8"/>
                </a:solidFill>
                <a:latin typeface="DM Sans"/>
                <a:ea typeface="DM Sans"/>
                <a:cs typeface="DM Sans"/>
              </a:rPr>
              <a:t>PROGRESSO DO CATÁLOGO  ████░░░░░░  10%  |  Base atualizada em 30 JUL 2026</a:t>
            </a:r>
          </a:p>
        </p:txBody>
      </p:sp>
    </p:spTree>
    <p:extLst>
      <p:ext uri="{BB962C8B-B14F-4D97-AF65-F5344CB8AC3E}">
        <p14:creationId xmlns:p14="http://schemas.microsoft.com/office/powerpoint/2010/main" val="61454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ESTADO EXECUTIVO DO ROADMAP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5 implementadas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A1, A2, A3, A4 e A7 estão comprovadas por código, testes e histórico.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1 parcial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A6: estratégia e memória de negociação existem; agente concreto ainda não.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50 planejadas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Nenhuma Work Order futura está aprovada para início. Próxima decisão: priorização.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034025-92E2-4B7E-891C-80FAC2B80426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 BASE ESTÁ PRONTA; O PRODUTO AINDA NÃO ESTÁ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CC3E572-B9BC-4E1F-8C85-48ADFE0FE9B7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E0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61C866-5CDC-43BD-8834-F4EBF314C440}"/>
              </a:ext>
            </a:extLst>
          </p:cNvPr>
          <p:cNvSpPr>
            <a:spLocks noGrp="1"/>
          </p:cNvSpPr>
          <p:nvPr/>
        </p:nvSpPr>
        <p:spPr>
          <a:xfrm>
            <a:off x="914400" y="114300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7A5A20"/>
                </a:solidFill>
                <a:latin typeface="DM Sans"/>
                <a:ea typeface="DM Sans"/>
                <a:cs typeface="DM Sans"/>
              </a:rPr>
              <a:t>+COMPRAS não possui fluxo de negócio ponta a ponta em produção.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850B9E-EDD5-41F5-9684-84BED81A1A59}"/>
              </a:ext>
            </a:extLst>
          </p:cNvPr>
          <p:cNvSpPr>
            <a:spLocks noGrp="1"/>
          </p:cNvSpPr>
          <p:nvPr/>
        </p:nvSpPr>
        <p:spPr>
          <a:xfrm>
            <a:off x="640080" y="2377440"/>
            <a:ext cx="9601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  <a:buNone/>
            </a:pPr>
            <a:r>
              <a:rPr sz="150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•  Capacidades existentes: runtime de IA, agentes básicos, knowledge, workflow e publicação.</a:t>
            </a:r>
          </a:p>
          <a:p>
            <a:pPr>
              <a:spcAft>
                <a:spcPts val="864"/>
              </a:spcAft>
              <a:buNone/>
            </a:pPr>
            <a:r>
              <a:rPr sz="150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•  Lacunas: portal, API de negócio, persistência, identidade, Procurement e ERP.</a:t>
            </a:r>
          </a:p>
          <a:p>
            <a:pPr>
              <a:spcAft>
                <a:spcPts val="864"/>
              </a:spcAft>
              <a:buNone/>
            </a:pPr>
            <a:r>
              <a:rPr sz="150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•  Qualidade comprovada: 231 testes aprovados; build sem avisos ou erros.</a:t>
            </a:r>
          </a:p>
        </p:txBody>
      </p:sp>
    </p:spTree>
    <p:extLst>
      <p:ext uri="{BB962C8B-B14F-4D97-AF65-F5344CB8AC3E}">
        <p14:creationId xmlns:p14="http://schemas.microsoft.com/office/powerpoint/2010/main" val="181943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SPRINTS CONCLUÍDAS | FUNDAÇÃO TÉCNICA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A1 + A2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Arquitetura base e AI Runtime.
Solution .NET, contratos, health check e provider OpenAI.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A3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Agent Framework.
Agente-base, fábrica, registro e execução padronizada.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A4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Workflow fundamental.
Workflow sequencial e diagnóstico básico implementados.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SPRINTS CONCLUÍDAS | CAPACIDADE E PUBLICAÇÃO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A6 — Parcial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Estratégia e memória de negociação em processo.
Pendente: agente comprador concreto.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A7 + A8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Documentação e Portal Vivo.
Geradores e publicação executiva, cliente e engenharia.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A9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Publication Engine.
Relatórios Markdown, HTML e PDF com métricas reais.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SPRINTS CONCLUÍDAS | GOVERNANÇA E PLANEJAMENTO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A10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Governança e Work Orders.
Estado operacional e evidências consolidados.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A11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Engineering Blueprint.
Arquitetura, roadmap técnico e operação consolidados.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A12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56 Work Orders oficiais.
Escopo, dependências e critérios de aceite especificados.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034025-92E2-4B7E-891C-80FAC2B80426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EM DESENVOLVIMENTO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CC3E572-B9BC-4E1F-8C85-48ADFE0FE9B7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E0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61C866-5CDC-43BD-8834-F4EBF314C440}"/>
              </a:ext>
            </a:extLst>
          </p:cNvPr>
          <p:cNvSpPr>
            <a:spLocks noGrp="1"/>
          </p:cNvSpPr>
          <p:nvPr/>
        </p:nvSpPr>
        <p:spPr>
          <a:xfrm>
            <a:off x="914400" y="114300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7A5A20"/>
                </a:solidFill>
                <a:latin typeface="DM Sans"/>
                <a:ea typeface="DM Sans"/>
                <a:cs typeface="DM Sans"/>
              </a:rPr>
              <a:t>Não há sprint de produto ativa. A12 foi concluída em 30 JUL 2026.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850B9E-EDD5-41F5-9684-84BED81A1A59}"/>
              </a:ext>
            </a:extLst>
          </p:cNvPr>
          <p:cNvSpPr>
            <a:spLocks noGrp="1"/>
          </p:cNvSpPr>
          <p:nvPr/>
        </p:nvSpPr>
        <p:spPr>
          <a:xfrm>
            <a:off x="640080" y="2377440"/>
            <a:ext cx="9601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  <a:buNone/>
            </a:pPr>
            <a:r>
              <a:rPr sz="150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•  Ativos internos existentes: IA, agentes básicos, conhecimento, memória em processo e workflow sequencial.</a:t>
            </a:r>
          </a:p>
          <a:p>
            <a:pPr>
              <a:spcAft>
                <a:spcPts val="864"/>
              </a:spcAft>
              <a:buNone/>
            </a:pPr>
            <a:r>
              <a:rPr sz="150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•  Não iniciados: Identity, Planner, Procurement, Notifications, portal e Analytics.</a:t>
            </a:r>
          </a:p>
          <a:p>
            <a:pPr>
              <a:spcAft>
                <a:spcPts val="864"/>
              </a:spcAft>
              <a:buNone/>
            </a:pPr>
            <a:r>
              <a:rPr sz="150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•  A próxima sprint requer priorização e aprovação explícitas do Product Owner.</a:t>
            </a:r>
          </a:p>
        </p:txBody>
      </p:sp>
    </p:spTree>
    <p:extLst>
      <p:ext uri="{BB962C8B-B14F-4D97-AF65-F5344CB8AC3E}">
        <p14:creationId xmlns:p14="http://schemas.microsoft.com/office/powerpoint/2010/main" val="1819438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F9271B-10B5-4EA4-B53B-D9123B64FEAD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PRÓXIMO INÍCIO | DECISÃO DA DIRETORIA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BECB823-526C-427A-AD5C-FA8EDE9630A7}"/>
              </a:ext>
            </a:extLst>
          </p:cNvPr>
          <p:cNvSpPr>
            <a:spLocks noGrp="1"/>
          </p:cNvSpPr>
          <p:nvPr/>
        </p:nvSpPr>
        <p:spPr>
          <a:xfrm>
            <a:off x="64008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E6453B-7E61-4E12-9773-E1A188EE59F7}"/>
              </a:ext>
            </a:extLst>
          </p:cNvPr>
          <p:cNvSpPr>
            <a:spLocks noGrp="1"/>
          </p:cNvSpPr>
          <p:nvPr/>
        </p:nvSpPr>
        <p:spPr>
          <a:xfrm>
            <a:off x="713232" y="1280160"/>
            <a:ext cx="207873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1A1916"/>
                </a:solidFill>
                <a:latin typeface="DM Mono"/>
                <a:ea typeface="DM Mono"/>
                <a:cs typeface="DM Mono"/>
              </a:rPr>
              <a:t>PRIORIZAR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E6D69-4D9B-4F82-B519-9B6907FA81FF}"/>
              </a:ext>
            </a:extLst>
          </p:cNvPr>
          <p:cNvSpPr>
            <a:spLocks noGrp="1"/>
          </p:cNvSpPr>
          <p:nvPr/>
        </p:nvSpPr>
        <p:spPr>
          <a:xfrm>
            <a:off x="2865120" y="1280160"/>
            <a:ext cx="320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9B9890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C5634D-5F96-46CA-8E94-6849008E7878}"/>
              </a:ext>
            </a:extLst>
          </p:cNvPr>
          <p:cNvSpPr>
            <a:spLocks noGrp="1"/>
          </p:cNvSpPr>
          <p:nvPr/>
        </p:nvSpPr>
        <p:spPr>
          <a:xfrm>
            <a:off x="318516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613E3-F47F-4543-8F86-D7B5E8B8658C}"/>
              </a:ext>
            </a:extLst>
          </p:cNvPr>
          <p:cNvSpPr>
            <a:spLocks noGrp="1"/>
          </p:cNvSpPr>
          <p:nvPr/>
        </p:nvSpPr>
        <p:spPr>
          <a:xfrm>
            <a:off x="3258312" y="1280160"/>
            <a:ext cx="207873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1A1916"/>
                </a:solidFill>
                <a:latin typeface="DM Mono"/>
                <a:ea typeface="DM Mono"/>
                <a:cs typeface="DM Mono"/>
              </a:rPr>
              <a:t>PREPARAR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007FA0-A7AD-42C5-99C1-92799F408722}"/>
              </a:ext>
            </a:extLst>
          </p:cNvPr>
          <p:cNvSpPr>
            <a:spLocks noGrp="1"/>
          </p:cNvSpPr>
          <p:nvPr/>
        </p:nvSpPr>
        <p:spPr>
          <a:xfrm>
            <a:off x="5410200" y="1280160"/>
            <a:ext cx="320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9B9890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46015C8-5379-4FB3-B53B-9CA883A729CB}"/>
              </a:ext>
            </a:extLst>
          </p:cNvPr>
          <p:cNvSpPr>
            <a:spLocks noGrp="1"/>
          </p:cNvSpPr>
          <p:nvPr/>
        </p:nvSpPr>
        <p:spPr>
          <a:xfrm>
            <a:off x="573024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7609F8-B4EC-4937-A74E-CCA37782CF06}"/>
              </a:ext>
            </a:extLst>
          </p:cNvPr>
          <p:cNvSpPr>
            <a:spLocks noGrp="1"/>
          </p:cNvSpPr>
          <p:nvPr/>
        </p:nvSpPr>
        <p:spPr>
          <a:xfrm>
            <a:off x="5803392" y="1280160"/>
            <a:ext cx="207873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1A1916"/>
                </a:solidFill>
                <a:latin typeface="DM Mono"/>
                <a:ea typeface="DM Mono"/>
                <a:cs typeface="DM Mono"/>
              </a:rPr>
              <a:t>INICIAR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D450DA-E36E-4F93-B3AC-D5D42EE05577}"/>
              </a:ext>
            </a:extLst>
          </p:cNvPr>
          <p:cNvSpPr>
            <a:spLocks noGrp="1"/>
          </p:cNvSpPr>
          <p:nvPr/>
        </p:nvSpPr>
        <p:spPr>
          <a:xfrm>
            <a:off x="640080" y="2743200"/>
            <a:ext cx="10058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  <a:buNone/>
            </a:pPr>
            <a:r>
              <a:rPr sz="140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•  Escolher a próxima Work Order e patrocínio executivo.
•  Definir responsável, dados, recorte e pré-condições de identidade/autorização.
•  Candidata: B1 — Cadastro e Perfil de Fornecedores, somente após aprovação.</a:t>
            </a:r>
          </a:p>
        </p:txBody>
      </p:sp>
    </p:spTree>
    <p:extLst>
      <p:ext uri="{BB962C8B-B14F-4D97-AF65-F5344CB8AC3E}">
        <p14:creationId xmlns:p14="http://schemas.microsoft.com/office/powerpoint/2010/main" val="599064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1E88B1-6F84-449B-8871-EA0721511B9F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HORIZONTE DO ROADMAP | PRODUTO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1BAE019-88B6-498A-951A-482674ECA0F7}"/>
              </a:ext>
            </a:extLst>
          </p:cNvPr>
          <p:cNvSpPr>
            <a:spLocks noGrp="1"/>
          </p:cNvSpPr>
          <p:nvPr/>
        </p:nvSpPr>
        <p:spPr>
          <a:xfrm>
            <a:off x="64008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31C20-D1F0-48BB-B1CD-1532C176D34D}"/>
              </a:ext>
            </a:extLst>
          </p:cNvPr>
          <p:cNvSpPr>
            <a:spLocks noGrp="1"/>
          </p:cNvSpPr>
          <p:nvPr/>
        </p:nvSpPr>
        <p:spPr>
          <a:xfrm>
            <a:off x="713232" y="1463040"/>
            <a:ext cx="201396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1A1916"/>
                </a:solidFill>
                <a:latin typeface="DM Mono"/>
                <a:ea typeface="DM Mono"/>
                <a:cs typeface="DM Mono"/>
              </a:rPr>
              <a:t>FUNDAÇÃO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B2C2C8-79EB-49E6-98AF-44B96DF7490F}"/>
              </a:ext>
            </a:extLst>
          </p:cNvPr>
          <p:cNvSpPr>
            <a:spLocks noGrp="1"/>
          </p:cNvSpPr>
          <p:nvPr/>
        </p:nvSpPr>
        <p:spPr>
          <a:xfrm>
            <a:off x="2800350" y="1463040"/>
            <a:ext cx="320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9B9890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A4CB95-2392-4566-949A-0B178325030C}"/>
              </a:ext>
            </a:extLst>
          </p:cNvPr>
          <p:cNvSpPr>
            <a:spLocks noGrp="1"/>
          </p:cNvSpPr>
          <p:nvPr/>
        </p:nvSpPr>
        <p:spPr>
          <a:xfrm>
            <a:off x="312039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745D00-AF15-4549-8090-01CA5E656C90}"/>
              </a:ext>
            </a:extLst>
          </p:cNvPr>
          <p:cNvSpPr>
            <a:spLocks noGrp="1"/>
          </p:cNvSpPr>
          <p:nvPr/>
        </p:nvSpPr>
        <p:spPr>
          <a:xfrm>
            <a:off x="3193542" y="1463040"/>
            <a:ext cx="201396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1A1916"/>
                </a:solidFill>
                <a:latin typeface="DM Mono"/>
                <a:ea typeface="DM Mono"/>
                <a:cs typeface="DM Mono"/>
              </a:rPr>
              <a:t>SOURCING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B261ED-620D-45B8-8AA5-C589767825FC}"/>
              </a:ext>
            </a:extLst>
          </p:cNvPr>
          <p:cNvSpPr>
            <a:spLocks noGrp="1"/>
          </p:cNvSpPr>
          <p:nvPr/>
        </p:nvSpPr>
        <p:spPr>
          <a:xfrm>
            <a:off x="5280660" y="1463040"/>
            <a:ext cx="320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9B9890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924C19-BB99-44D8-AD70-249BD2DC8C94}"/>
              </a:ext>
            </a:extLst>
          </p:cNvPr>
          <p:cNvSpPr>
            <a:spLocks noGrp="1"/>
          </p:cNvSpPr>
          <p:nvPr/>
        </p:nvSpPr>
        <p:spPr>
          <a:xfrm>
            <a:off x="560070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8BA185-9FBD-4C00-A60A-4F4C913D20A4}"/>
              </a:ext>
            </a:extLst>
          </p:cNvPr>
          <p:cNvSpPr>
            <a:spLocks noGrp="1"/>
          </p:cNvSpPr>
          <p:nvPr/>
        </p:nvSpPr>
        <p:spPr>
          <a:xfrm>
            <a:off x="5673852" y="1463040"/>
            <a:ext cx="201396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1A1916"/>
                </a:solidFill>
                <a:latin typeface="DM Mono"/>
                <a:ea typeface="DM Mono"/>
                <a:cs typeface="DM Mono"/>
              </a:rPr>
              <a:t>NEGOCIAÇÃO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79B0E8-2626-4D58-B917-B5206F4B7F83}"/>
              </a:ext>
            </a:extLst>
          </p:cNvPr>
          <p:cNvSpPr>
            <a:spLocks noGrp="1"/>
          </p:cNvSpPr>
          <p:nvPr/>
        </p:nvSpPr>
        <p:spPr>
          <a:xfrm>
            <a:off x="7760970" y="1463040"/>
            <a:ext cx="320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9B9890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3FDB311-0B85-46A8-9B42-66C51BBE1929}"/>
              </a:ext>
            </a:extLst>
          </p:cNvPr>
          <p:cNvSpPr>
            <a:spLocks noGrp="1"/>
          </p:cNvSpPr>
          <p:nvPr/>
        </p:nvSpPr>
        <p:spPr>
          <a:xfrm>
            <a:off x="808101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D8CB9B-C40A-440B-94C3-569871C4507A}"/>
              </a:ext>
            </a:extLst>
          </p:cNvPr>
          <p:cNvSpPr>
            <a:spLocks noGrp="1"/>
          </p:cNvSpPr>
          <p:nvPr/>
        </p:nvSpPr>
        <p:spPr>
          <a:xfrm>
            <a:off x="8154162" y="1463040"/>
            <a:ext cx="201396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1A1916"/>
                </a:solidFill>
                <a:latin typeface="DM Mono"/>
                <a:ea typeface="DM Mono"/>
                <a:cs typeface="DM Mono"/>
              </a:rPr>
              <a:t>COMPLIANCE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7588C8-C5C6-47FF-B9BE-1CDD7F4AC97F}"/>
              </a:ext>
            </a:extLst>
          </p:cNvPr>
          <p:cNvSpPr>
            <a:spLocks noGrp="1"/>
          </p:cNvSpPr>
          <p:nvPr/>
        </p:nvSpPr>
        <p:spPr>
          <a:xfrm>
            <a:off x="640080" y="2651760"/>
            <a:ext cx="102412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40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Fase A: arquitetura, IA, agentes e documentação.
Fase B: fornecedores, catálogo, histórico, preços e sourcing.
Fase C: dossiê, planejamento, agente, memória e aprovações.
Fase D: contratos, obrigações, compliance, exceções e auditoria.</a:t>
            </a:r>
          </a:p>
        </p:txBody>
      </p:sp>
    </p:spTree>
    <p:extLst>
      <p:ext uri="{BB962C8B-B14F-4D97-AF65-F5344CB8AC3E}">
        <p14:creationId xmlns:p14="http://schemas.microsoft.com/office/powerpoint/2010/main" val="1859583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1E88B1-6F84-449B-8871-EA0721511B9F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HORIZONTE DO ROADMAP | ESCALA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1BAE019-88B6-498A-951A-482674ECA0F7}"/>
              </a:ext>
            </a:extLst>
          </p:cNvPr>
          <p:cNvSpPr>
            <a:spLocks noGrp="1"/>
          </p:cNvSpPr>
          <p:nvPr/>
        </p:nvSpPr>
        <p:spPr>
          <a:xfrm>
            <a:off x="64008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31C20-D1F0-48BB-B1CD-1532C176D34D}"/>
              </a:ext>
            </a:extLst>
          </p:cNvPr>
          <p:cNvSpPr>
            <a:spLocks noGrp="1"/>
          </p:cNvSpPr>
          <p:nvPr/>
        </p:nvSpPr>
        <p:spPr>
          <a:xfrm>
            <a:off x="713232" y="1463040"/>
            <a:ext cx="201396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1A1916"/>
                </a:solidFill>
                <a:latin typeface="DM Mono"/>
                <a:ea typeface="DM Mono"/>
                <a:cs typeface="DM Mono"/>
              </a:rPr>
              <a:t>RISCO / ESG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B2C2C8-79EB-49E6-98AF-44B96DF7490F}"/>
              </a:ext>
            </a:extLst>
          </p:cNvPr>
          <p:cNvSpPr>
            <a:spLocks noGrp="1"/>
          </p:cNvSpPr>
          <p:nvPr/>
        </p:nvSpPr>
        <p:spPr>
          <a:xfrm>
            <a:off x="2800350" y="1463040"/>
            <a:ext cx="320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9B9890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A4CB95-2392-4566-949A-0B178325030C}"/>
              </a:ext>
            </a:extLst>
          </p:cNvPr>
          <p:cNvSpPr>
            <a:spLocks noGrp="1"/>
          </p:cNvSpPr>
          <p:nvPr/>
        </p:nvSpPr>
        <p:spPr>
          <a:xfrm>
            <a:off x="312039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745D00-AF15-4549-8090-01CA5E656C90}"/>
              </a:ext>
            </a:extLst>
          </p:cNvPr>
          <p:cNvSpPr>
            <a:spLocks noGrp="1"/>
          </p:cNvSpPr>
          <p:nvPr/>
        </p:nvSpPr>
        <p:spPr>
          <a:xfrm>
            <a:off x="3193542" y="1463040"/>
            <a:ext cx="201396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1A1916"/>
                </a:solidFill>
                <a:latin typeface="DM Mono"/>
                <a:ea typeface="DM Mono"/>
                <a:cs typeface="DM Mono"/>
              </a:rPr>
              <a:t>ANALYTICS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B261ED-620D-45B8-8AA5-C589767825FC}"/>
              </a:ext>
            </a:extLst>
          </p:cNvPr>
          <p:cNvSpPr>
            <a:spLocks noGrp="1"/>
          </p:cNvSpPr>
          <p:nvPr/>
        </p:nvSpPr>
        <p:spPr>
          <a:xfrm>
            <a:off x="5280660" y="1463040"/>
            <a:ext cx="320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9B9890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924C19-BB99-44D8-AD70-249BD2DC8C94}"/>
              </a:ext>
            </a:extLst>
          </p:cNvPr>
          <p:cNvSpPr>
            <a:spLocks noGrp="1"/>
          </p:cNvSpPr>
          <p:nvPr/>
        </p:nvSpPr>
        <p:spPr>
          <a:xfrm>
            <a:off x="560070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8BA185-9FBD-4C00-A60A-4F4C913D20A4}"/>
              </a:ext>
            </a:extLst>
          </p:cNvPr>
          <p:cNvSpPr>
            <a:spLocks noGrp="1"/>
          </p:cNvSpPr>
          <p:nvPr/>
        </p:nvSpPr>
        <p:spPr>
          <a:xfrm>
            <a:off x="5673852" y="1463040"/>
            <a:ext cx="201396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1A1916"/>
                </a:solidFill>
                <a:latin typeface="DM Mono"/>
                <a:ea typeface="DM Mono"/>
                <a:cs typeface="DM Mono"/>
              </a:rPr>
              <a:t>INTEGRAÇÕES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79B0E8-2626-4D58-B917-B5206F4B7F83}"/>
              </a:ext>
            </a:extLst>
          </p:cNvPr>
          <p:cNvSpPr>
            <a:spLocks noGrp="1"/>
          </p:cNvSpPr>
          <p:nvPr/>
        </p:nvSpPr>
        <p:spPr>
          <a:xfrm>
            <a:off x="7760970" y="1463040"/>
            <a:ext cx="320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9B9890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3FDB311-0B85-46A8-9B42-66C51BBE1929}"/>
              </a:ext>
            </a:extLst>
          </p:cNvPr>
          <p:cNvSpPr>
            <a:spLocks noGrp="1"/>
          </p:cNvSpPr>
          <p:nvPr/>
        </p:nvSpPr>
        <p:spPr>
          <a:xfrm>
            <a:off x="808101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D8CB9B-C40A-440B-94C3-569871C4507A}"/>
              </a:ext>
            </a:extLst>
          </p:cNvPr>
          <p:cNvSpPr>
            <a:spLocks noGrp="1"/>
          </p:cNvSpPr>
          <p:nvPr/>
        </p:nvSpPr>
        <p:spPr>
          <a:xfrm>
            <a:off x="8154162" y="1463040"/>
            <a:ext cx="201396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1A1916"/>
                </a:solidFill>
                <a:latin typeface="DM Mono"/>
                <a:ea typeface="DM Mono"/>
                <a:cs typeface="DM Mono"/>
              </a:rPr>
              <a:t>GOVERNANÇA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7588C8-C5C6-47FF-B9BE-1CDD7F4AC97F}"/>
              </a:ext>
            </a:extLst>
          </p:cNvPr>
          <p:cNvSpPr>
            <a:spLocks noGrp="1"/>
          </p:cNvSpPr>
          <p:nvPr/>
        </p:nvSpPr>
        <p:spPr>
          <a:xfrm>
            <a:off x="640080" y="2651760"/>
            <a:ext cx="102412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40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Fase E: risco de fornecedor, monitoramento e ESG.
Fase F: dados, previsões, anomalias e analytics executivo.
Fase G: framework, ERP, n8n e portal de fornecedores.
Fase H: identidade, segurança, cloud, CI/CD e operação assistida.</a:t>
            </a:r>
          </a:p>
        </p:txBody>
      </p:sp>
    </p:spTree>
    <p:extLst>
      <p:ext uri="{BB962C8B-B14F-4D97-AF65-F5344CB8AC3E}">
        <p14:creationId xmlns:p14="http://schemas.microsoft.com/office/powerpoint/2010/main" val="1859583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42176ED-C8E1-4985-BD4E-7DAE382C12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495" y="1097280"/>
            <a:ext cx="4389120" cy="14007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CC044A-2ED7-4AB8-92BE-621F7E888AF8}"/>
              </a:ext>
            </a:extLst>
          </p:cNvPr>
          <p:cNvSpPr>
            <a:spLocks noGrp="1"/>
          </p:cNvSpPr>
          <p:nvPr/>
        </p:nvSpPr>
        <p:spPr>
          <a:xfrm>
            <a:off x="822960" y="237744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 i="0">
                <a:solidFill>
                  <a:srgbClr val="FFFFFF"/>
                </a:solidFill>
                <a:latin typeface="Inter Tight"/>
                <a:ea typeface="Inter Tight"/>
                <a:cs typeface="Inter Tight"/>
              </a:rPr>
              <a:t>A fundação está comprovada.
A decisão agora é transformar base em produto.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3BB783EB-7B24-4070-ADE9-30110C23A2AF}"/>
              </a:ext>
            </a:extLst>
          </p:cNvPr>
          <p:cNvSpPr>
            <a:spLocks noGrp="1"/>
          </p:cNvSpPr>
          <p:nvPr/>
        </p:nvSpPr>
        <p:spPr>
          <a:xfrm>
            <a:off x="822960" y="4069080"/>
            <a:ext cx="27432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57C9D-B151-4498-9EAD-FD52F6F48F80}"/>
              </a:ext>
            </a:extLst>
          </p:cNvPr>
          <p:cNvSpPr>
            <a:spLocks noGrp="1"/>
          </p:cNvSpPr>
          <p:nvPr/>
        </p:nvSpPr>
        <p:spPr>
          <a:xfrm>
            <a:off x="822960" y="429768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0" i="0">
                <a:solidFill>
                  <a:srgbClr val="E8E8E8"/>
                </a:solidFill>
                <a:latin typeface="DM Sans"/>
                <a:ea typeface="DM Sans"/>
                <a:cs typeface="DM Sans"/>
              </a:rPr>
              <a:t>Aprovar a próxima Work Order e seu recorte para iniciar a evolução de +COMPRAS.</a:t>
            </a:r>
          </a:p>
        </p:txBody>
      </p:sp>
    </p:spTree>
    <p:extLst>
      <p:ext uri="{BB962C8B-B14F-4D97-AF65-F5344CB8AC3E}">
        <p14:creationId xmlns:p14="http://schemas.microsoft.com/office/powerpoint/2010/main" val="644688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FOUNDATION | 1–3/56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A1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Arquitetura Base
Objetivo: Estabelecer solution .NET, projetos, camadas, contratos fundamentais, convenções, estrutura inicial e health check.
Dependências: Nenhuma além da inicialização.
Status: Implementado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A2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AI Runtime
Objetivo: Implementar contratos de modelos de IA, providers, mensagens, configuração, execução e tratamento básico de respostas.
Dependências: A1.
Status: Implementado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A3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Agent Framework
Objetivo: Implementar agentes, agente-base, contexto, resultados, fábrica, registro e execução padronizada.
Dependências: A2.
Status: Implementado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FOUNDATION | 4–6/56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A4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Workflow e Observabilidade Fundamental
Objetivo: Implementar workflow sequencial básico, logging estruturado, correlation ID, métricas fundamentais e diagnóstico.
Dependências: A3.
Status: Implementado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A5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Configuração Multiempresa
Objetivo: Definir empresas, unidades de negócio, configurações isoladas, feature flags e preparação para multi-tenancy.
Dependências: A1; Identity e persistência futuras.
Status: Não comprovado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A6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Agente Comprador Sênior
Objetivo: Implementar estratégias de negociação, análise de contexto, memória de negociação e recomendações de compra.
Dependências: A2 e A3.
Status: Parcial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FOUNDATION | 7–9/56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A7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Sistema de Documentação
Objetivo: Implementar geração e publicação de documentação executiva, cliente e engenharia nos formatos definidos.
Dependências: A1.
Status: Implementado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B1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Cadastro e Perfil de Fornecedores
Objetivo: Criar domínio, persistência e APIs para fornecedores, contatos, categorias, unidades atendidas e situação cadastral.
Dependências: A1; H1/H2 propostos.
Status: Planejado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B2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Catálogo de Materiais e Serviços
Objetivo: Criar taxonomia de categorias, itens, serviços, atributos, unidades de medida e relacionamento com fornecedores.
Dependências: B1.
Status: Planejado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SOURCING INTELLIGENCE | 10–12/56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B3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Histórico de Compras
Objetivo: Ingerir e consultar requisições, cotações, pedidos, preços, quantidades, prazos e condições históricas.
Dependências: B1 e B2.
Status: Planejado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B4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Inteligência de Preços
Objetivo: Calcular preço histórico, dispersão, tendências, referências, anomalias e oportunidades de economia.
Dependências: B3.
Status: Planejado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B5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Descoberta e Qualificação de Fornecedores
Objetivo: Identificar fornecedores candidatos, aplicar critérios de qualificação e produzir ranking explicável.
Dependências: B1, B2 e B3.
Status: Planejado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SOURCING INTELLIGENCE | 13–15/56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B6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Recomendação de Sourcing
Objetivo: Recomendar estratégia de fornecimento por categoria, demanda, criticidade, mercado, prazo e risco.
Dependências: B1, B3, B4 e B5.
Status: Planejado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B7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Cockpit de Sourcing
Objetivo: Expor APIs e visão operacional consolidada para oportunidades, fornecedores, preços e recomendações.
Dependências: B1 a B6; H1/H2 propostos.
Status: Planejado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C1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Dossiê de Negociação
Objetivo: Consolidar histórico, fornecedor, preços, riscos, demanda, metas e argumentos antes da negociação.
Dependências: B1, B3, B4 e B6.
Status: Planejado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NEGOTIATION AUTOMATION | 16–18/56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C2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Planejador de Negociação
Objetivo: Gerar estratégia, objetivo, faixa-alvo, concessões, alternativas, limites e sequência de negociação.
Dependências: C1.
Status: Planejado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C3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Agente de Negociação
Objetivo: Executar negociações assistidas ou automatizadas por canais controlados, mantendo contexto e regras de autonomia.
Dependências: C2 e C5.
Status: Planejado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C4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Memória Persistente de Negociação
Objetivo: Persistir interações, propostas, contrapropostas, decisões, aprendizados e resultados.
Dependências: C3; persistência proposta.
Status: Planejado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NEGOTIATION AUTOMATION | 19–21/56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C5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Aprovações e Alçadas
Objetivo: Implementar limites de autonomia, aprovação humana, segregação de funções e trilha de decisão.
Dependências: H1 e H2 propostos.
Status: Planejado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C6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Avaliação de Resultado
Objetivo: Comparar resultado negociado com baseline, meta, orçamento, mercado e histórico.
Dependências: C1, C3 e C4.
Status: Planejado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C7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Central de Negociações
Objetivo: Disponibilizar fila, status, intervenções humanas, resultados, alertas e indicadores de negociação.
Dependências: C1 a C6; H1/H2 propostos.
Status: Planejado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CONTRACT &amp; COMPLIANCE | 22–24/56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D1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Integração com Plataforma Jurídica
Objetivo: Criar contratos de integração para consulta de contratos, vigência, partes, status e metadados jurídicos.
Dependências: G1; plataforma jurídica a aprovar.
Status: Planejado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D2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Obrigações e Marcos Contratuais
Objetivo: Controlar entregas, renovações, reajustes, vencimentos, garantias e obrigações associadas à compra.
Dependências: D1.
Status: Planejado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D3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Compliance de Compras
Objetivo: Validar políticas internas, documentação obrigatória, concorrência, alçadas e impedimentos.
Dependências: B3, C5 e H2.
Status: Planejado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CONTRACT &amp; COMPLIANCE | 25–27/56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D4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Agente de Compliance
Objetivo: Avaliar processos de compra, explicar inconsistências e recomendar correções antes da aprovação.
Dependências: D3, Knowledge e AI Runtime.
Status: Planejado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D5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Gestão de Exceções
Objetivo: Registrar desvios, justificativas, aprovações extraordinárias, responsáveis e prazo de regularização.
Dependências: D3 e C5.
Status: Planejado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D6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Auditoria e Evidências
Objetivo: Gerar trilha imutável de ações, decisões, documentos, agentes, usuários e integrações.
Dependências: D1 a D5; H4/H5 propostos.
Status: Planejado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CONTRACT &amp; COMPLIANCE | 28–30/56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D7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Painel Contratual e de Compliance
Objetivo: Consolidar vencimentos, obrigações, riscos, exceções e conformidade operacional.
Dependências: D1 a D6; H1/H2 propostos.
Status: Planejado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E1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Modelo de Risco de Fornecedor
Objetivo: Definir dimensões, indicadores, pesos, níveis, histórico e metodologia explicável de risco.
Dependências: B1.
Status: Planejado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E2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Integração de Dados de Risco
Objetivo: Consumir fontes internas e externas autorizadas sobre situação financeira, fiscal, operacional e reputacional.
Dependências: E1 e G1.
Status: Planejado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SUPPLIER RISK &amp; ESG | 31–33/56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E3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Monitoramento Contínuo
Objetivo: Executar reavaliações periódicas, detectar alterações e gerar alertas relevantes.
Dependências: E1 e E2.
Status: Planejado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E4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Agente de Risco
Objetivo: Interpretar sinais, produzir análise explicável e recomendar mitigação ou bloqueio.
Dependências: E1 a E3; AI Runtime.
Status: Planejado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E5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Avaliação ESG
Objetivo: Registrar critérios ambientais, sociais e de governança por fornecedor e categoria.
Dependências: B1 e B2.
Status: Planejado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SUPPLIER RISK &amp; ESG | 34–36/56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E6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Planos de Mitigação
Objetivo: Criar ações, responsáveis, prazos, evidências e acompanhamento para riscos e desvios ESG.
Dependências: E1, E4 e E5.
Status: Planejado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E7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Cockpit de Risco e ESG
Objetivo: Exibir mapa de risco, evolução, criticidade, alertas, mitigação e exposição da cadeia.
Dependências: E1 a E6; H1/H2 propostos.
Status: Planejado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F1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Camada Analítica de Compras
Objetivo: Criar modelos de dados analíticos, indicadores, dimensões, fatos e pipelines de atualização.
Dependências: B3; persistência e integração propostas.
Status: Planejado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PREDICTIVE ANALYTICS | 37–39/56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F2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Previsão de Demanda
Objetivo: Projetar demanda por item, categoria, empresa, unidade e período usando histórico disponível.
Dependências: F1.
Status: Planejado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F3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Previsão de Preços
Objetivo: Estimar tendências e intervalos de preço, deixando explícitos nível de confiança e limitações.
Dependências: F1 e B4.
Status: Planejado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F4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Previsão de Lead Time
Objetivo: Estimar prazo de entrega e probabilidade de atraso por fornecedor, item e contexto.
Dependências: F1, B1 e B3.
Status: Planejado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PREDICTIVE ANALYTICS | 40–42/56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F5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Detecção de Anomalias
Objetivo: Identificar desvios em preço, volume, frequência, fornecedor, pedido e comportamento operacional.
Dependências: F1.
Status: Planejado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F6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Simulação de Cenários
Objetivo: Comparar fornecedores, lotes, prazos, condições, concentração, câmbio e estratégias de compra.
Dependências: F1 a F5.
Status: Planejado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F7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Analytics Executivo
Objetivo: Consolidar savings, riscos, previsões, eficiência, compliance e oportunidades para gestão.
Dependências: F1 a F6; D/E propostos.
Status: Planejado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MARKETPLACE &amp; INTEGRATIONS | 43–45/56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G1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Integration Framework
Objetivo: Criar contratos, adapters, filas, retries, idempotência, telemetria e governança de integrações.
Dependências: A1; H4/H5 propostos.
Status: Planejado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G2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Integração ERP de Requisições
Objetivo: Receber requisições e demandas dos diferentes ERPs das unidades de negócio.
Dependências: G1; ERP a identificar.
Status: Planejado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G3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Integração ERP de Pedidos
Objetivo: Criar, atualizar e consultar pedidos nos ERPs responsáveis por cada unidade de negócio.
Dependências: G1 e B3; ERP a identificar.
Status: Planejado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MARKETPLACE &amp; INTEGRATIONS | 46–48/56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G4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Integração de Notas Fiscais
Objetivo: Consultar e registrar informações de notas fiscais e seu vínculo com pedidos e fornecedores.
Dependências: G1 e G3.
Status: Planejado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G5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Integração n8n e Workflows Externos
Objetivo: Permitir automações externas governadas, autenticadas, auditáveis e idempotentes.
Dependências: G1, H1, H2 e H4.
Status: Planejado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G6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Portal e Marketplace de Fornecedores
Objetivo: Permitir interação controlada de fornecedores para cadastro, documentos, propostas e acompanhamento.
Dependências: B1, G1 e H1/H2.
Status: Planejado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MARKETPLACE &amp; INTEGRATIONS | 49–51/56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G7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Central de Integrações
Objetivo: Gerenciar conexões, credenciais, status, falhas, filas, reprocessamentos e indicadores.
Dependências: G1 a G6; H4/H5.
Status: Planejado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H1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Identidade Corporativa com Entra ID
Objetivo: Implementar autenticação, claims, grupos, usuários, service principals e integração com Microsoft Entra ID.
Dependências: A1; tenant Entra a aprovar.
Status: Planejado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H2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Autorização e Segregação de Funções
Objetivo: Implementar papéis, permissões, políticas, alçadas e segregação por aplicativo e empresa.
Dependências: H1.
Status: Planejado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ENTERPRISE SCALE &amp; GOVERNANCE | 52–54/56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H3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Multi-Tenancy em Produção
Objetivo: Garantir isolamento lógico, configuração, segurança, dados e operação por empresa e unidade de negócio.
Dependências: H1 e H2.
Status: Planejado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H4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Observabilidade Corporativa
Objetivo: Implementar logs, métricas, tracing, alertas, dashboards, SLOs, auditoria operacional e custos de IA.
Dependências: H1/H2 e infraestrutura proposta.
Status: Planejado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H5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Segurança, LGPD e Governança de IA
Objetivo: Implementar classificação de dados, retenção, consentimento, anonimização, controles e governança dos agentes.
Dependências: H1 a H4.
Status: Planejado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F13A4-90B4-4AA1-8951-36E006A943E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9B9890"/>
                </a:solidFill>
                <a:latin typeface="DM Mono"/>
                <a:ea typeface="DM Mono"/>
                <a:cs typeface="DM Mono"/>
              </a:rPr>
              <a:t>APPENDIX | WORK ORDERS | ENTERPRISE SCALE &amp; GOVERNANCE | 55–56/56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50813E-9399-432D-B236-1228F7CAC1E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F4657-62E7-4A9A-A743-99CDBA130C71}"/>
              </a:ext>
            </a:extLst>
          </p:cNvPr>
          <p:cNvSpPr>
            <a:spLocks noGrp="1"/>
          </p:cNvSpPr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561A-E837-439D-A8B9-ED52E75ADA69}"/>
              </a:ext>
            </a:extLst>
          </p:cNvPr>
          <p:cNvSpPr>
            <a:spLocks noGrp="1"/>
          </p:cNvSpPr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H6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C8BD2-C9BA-4B18-A08F-AC2AA9E3AA52}"/>
              </a:ext>
            </a:extLst>
          </p:cNvPr>
          <p:cNvSpPr>
            <a:spLocks noGrp="1"/>
          </p:cNvSpPr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Plataforma Cloud e CI/CD
Objetivo: Preparar Google Cloud, pipelines, ambientes, secrets, infraestrutura como código, backup e recuperação.
Dependências: H1 a H5; G1.
Status: Planejado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F01190-1F38-49B3-B38E-72C20D0ED659}"/>
              </a:ext>
            </a:extLst>
          </p:cNvPr>
          <p:cNvSpPr>
            <a:spLocks noGrp="1"/>
          </p:cNvSpPr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14881B-064C-4AE3-9B37-A4BF4D4C1A0D}"/>
              </a:ext>
            </a:extLst>
          </p:cNvPr>
          <p:cNvSpPr>
            <a:spLocks noGrp="1"/>
          </p:cNvSpPr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8C2EC-ED49-43CD-AC1F-D4E2B7AD2116}"/>
              </a:ext>
            </a:extLst>
          </p:cNvPr>
          <p:cNvSpPr>
            <a:spLocks noGrp="1"/>
          </p:cNvSpPr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H7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7C39A-313D-4F6E-8403-767271F1CB6D}"/>
              </a:ext>
            </a:extLst>
          </p:cNvPr>
          <p:cNvSpPr>
            <a:spLocks noGrp="1"/>
          </p:cNvSpPr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Produção, Escala e Operação Assistida
Objetivo: Executar readiness review, testes de carga, runbooks, suporte, continuidade, rollout e acompanhamento produtivo.
Dependências: Demais capacidades necessárias para produção.
Status: Planejado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713E0D-674B-4A7B-B748-CF647730C924}"/>
              </a:ext>
            </a:extLst>
          </p:cNvPr>
          <p:cNvSpPr>
            <a:spLocks noGrp="1"/>
          </p:cNvSpPr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FAAA98-C507-47A2-A113-8A46205D850A}"/>
              </a:ext>
            </a:extLst>
          </p:cNvPr>
          <p:cNvSpPr>
            <a:spLocks noGrp="1"/>
          </p:cNvSpPr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A3FD3-E69E-4D05-A7B4-AB9B64F7F19D}"/>
              </a:ext>
            </a:extLst>
          </p:cNvPr>
          <p:cNvSpPr>
            <a:spLocks noGrp="1"/>
          </p:cNvSpPr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1A1916"/>
                </a:solidFill>
                <a:latin typeface="Inter Tight"/>
                <a:ea typeface="Inter Tight"/>
                <a:cs typeface="Inter Tight"/>
              </a:rPr>
              <a:t>CATÁLOGO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274648-CA2B-44CC-8169-9FC467077D81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6B6860"/>
                </a:solidFill>
                <a:latin typeface="DM Sans"/>
                <a:ea typeface="DM Sans"/>
                <a:cs typeface="DM Sans"/>
              </a:rPr>
              <a:t>Todas as 56 Work Orders foram apresentadas neste apêndice.</a:t>
            </a:r>
          </a:p>
        </p:txBody>
      </p:sp>
    </p:spTree>
    <p:extLst>
      <p:ext uri="{BB962C8B-B14F-4D97-AF65-F5344CB8AC3E}">
        <p14:creationId xmlns:p14="http://schemas.microsoft.com/office/powerpoint/2010/main" val="1748910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3673</Words>
  <Application>Microsoft Macintosh PowerPoint</Application>
  <DocSecurity>0</DocSecurity>
  <PresentationFormat>Widescreen</PresentationFormat>
  <Paragraphs>313</Paragraphs>
  <Slides>30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6" baseType="lpstr">
      <vt:lpstr>Arial</vt:lpstr>
      <vt:lpstr>Calibri</vt:lpstr>
      <vt:lpstr>DM Mono</vt:lpstr>
      <vt:lpstr>DM Sans</vt:lpstr>
      <vt:lpstr>Inter Tight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Julio Cesar</cp:lastModifiedBy>
  <cp:revision>1</cp:revision>
  <dcterms:created xsi:type="dcterms:W3CDTF">2026-07-30T17:22:58Z</dcterms:created>
  <dcterms:modified xsi:type="dcterms:W3CDTF">2026-07-30T17:28:32Z</dcterms:modified>
</cp:coreProperties>
</file>