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0095" y="365760"/>
            <a:ext cx="914400" cy="29626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1520" y="4206240"/>
            <a:ext cx="91440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Inter Tight"/>
              </a:rPr>
              <a:t>+Compras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8348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 i="0">
                <a:solidFill>
                  <a:srgbClr val="FFFFFF"/>
                </a:solidFill>
                <a:latin typeface="DM Sans"/>
              </a:rPr>
              <a:t>Product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5321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8E8E8"/>
                </a:solidFill>
                <a:latin typeface="DM Sans"/>
              </a:rPr>
              <a:t>O produto de IA para Compras, construído sobre o BlueprintOS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VISÃO GERAL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O que 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Produto de IA para automação e apoio à área de Compras, com agentes, memória e conhecimento organizacional.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Problema que resolve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Torna explícito e reutilizável o conhecimento de negociação hoje disperso e dependente de cada comprador.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Como funciona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Um Agente de IA (Comprador Sênior) recomenda estratégias de negociação com base em memória e conhecimento.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PROBLEMA RESOLVIDO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FDF3E3"/>
          </a:solidFill>
          <a:ln w="12700">
            <a:solidFill>
              <a:srgbClr val="E09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7A5A20"/>
                </a:solidFill>
                <a:latin typeface="DM Sans"/>
              </a:rPr>
              <a:t>Decisões de compra dependem fortemente da experiência individual do comprador.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9601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Grande volume de negociações e histórico disperso de fornecedores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Decisões dependem da experiência individual do comprador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Conhecimento crítico se perde entre negociações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OBJETIVOS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Apoiar decisões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Recomendações de negociação baseadas em histórico real de fornecedores.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Reter conhecimento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Políticas, processos e aprendizados organizacionais preservados e reutilizáveis.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Reduzir tempo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Menos tempo reunindo informação dispersa antes de uma negociação.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ARQUITETURA SIMPLIFICADA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COMPRADOR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16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831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AGENTE DE 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020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024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39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RECOMENDAÇÃO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Alimentada pela Memória de Negociação e pela Base de Conhecimento Organizacional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FUNCIONALIDADES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23494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52349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Implementadas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5234940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Motor de estratégia de negociação, memória de negociação, Agente Comprador Sênior, base de conhecimento organizacional.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5060" y="1188720"/>
            <a:ext cx="523494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5109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62572" y="1426464"/>
            <a:ext cx="52349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Planejadas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51092" y="1947672"/>
            <a:ext cx="5234940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Automação de compras de ponta a ponta (Procurement), integração com ERP, portal para o comprador.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JORNADA DO USUÁRIO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ABRIR NEGOCIAÇÃO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0035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039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9354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CONSULTAR HISTÓRICO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8066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0070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7385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RECEBER RECOMENDAÇÃO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60970" y="146304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1010" y="1463040"/>
            <a:ext cx="216027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54162" y="1463040"/>
            <a:ext cx="20139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REGISTRAR RESULTADO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51760"/>
            <a:ext cx="102412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6B6860"/>
                </a:solidFill>
                <a:latin typeface="DM Sans"/>
              </a:rPr>
              <a:t>Hoje: consulta e recomendação já existem; abertura e registro dependem do portal (roadmap).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FUNDAÇÃO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8516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831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CONHECIMENTO E AUTOMAÇÃO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0200" y="1280160"/>
            <a:ext cx="320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 i="0">
                <a:solidFill>
                  <a:srgbClr val="9B9890"/>
                </a:solidFill>
                <a:latin typeface="DM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30240" y="1280160"/>
            <a:ext cx="2225040" cy="640080"/>
          </a:xfrm>
          <a:prstGeom prst="roundRect">
            <a:avLst>
              <a:gd name="adj" fmla="val 6000"/>
            </a:avLst>
          </a:prstGeom>
          <a:noFill/>
          <a:ln w="15875">
            <a:solidFill>
              <a:srgbClr val="9B98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03392" y="1280160"/>
            <a:ext cx="207873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1A1916"/>
                </a:solidFill>
                <a:latin typeface="DM Mono"/>
              </a:rPr>
              <a:t>ESCALA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1005840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400">
                <a:solidFill>
                  <a:srgbClr val="6B6860"/>
                </a:solidFill>
                <a:latin typeface="DM Sans"/>
              </a:rPr>
              <a:t>•  Da fundação técnica à automação completa, cada fase entrega a base para a seguinte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BENEFÍCIOS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9611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0759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Decisões apoiadas por dados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Negociações apoiadas em dados reais, não apenas na memória individual do comprador.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9943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1091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Conhecimento preservado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Conhecimento organizacional preservado e reutilizável entre compradores.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88720"/>
            <a:ext cx="3383280" cy="4389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302752" y="1444752"/>
            <a:ext cx="292608" cy="292608"/>
          </a:xfrm>
          <a:prstGeom prst="ellipse">
            <a:avLst/>
          </a:prstGeom>
          <a:noFill/>
          <a:ln w="15875">
            <a:solidFill>
              <a:srgbClr val="1A19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14232" y="1426464"/>
            <a:ext cx="245973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1A1916"/>
                </a:solidFill>
                <a:latin typeface="Inter Tight"/>
              </a:rPr>
              <a:t>Plataforma sem retrabalho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947672"/>
            <a:ext cx="2871216" cy="33741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0">
                <a:solidFill>
                  <a:srgbClr val="6B6860"/>
                </a:solidFill>
                <a:latin typeface="DM Sans"/>
              </a:rPr>
              <a:t>BlueprintOS pensado para crescer com o produto, sem retrabalho arquitetural.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 spc="150">
                <a:solidFill>
                  <a:srgbClr val="9B9890"/>
                </a:solidFill>
                <a:latin typeface="DM Mono"/>
              </a:rPr>
              <a:t>PERGUNTAS FREQUENTES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43000"/>
            <a:ext cx="10881360" cy="822960"/>
          </a:xfrm>
          <a:prstGeom prst="roundRect">
            <a:avLst>
              <a:gd name="adj" fmla="val 6000"/>
            </a:avLst>
          </a:prstGeom>
          <a:solidFill>
            <a:srgbClr val="D8F3DC"/>
          </a:solidFill>
          <a:ln w="1270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143000"/>
            <a:ext cx="103327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A4D38"/>
                </a:solidFill>
                <a:latin typeface="DM Sans"/>
              </a:rPr>
              <a:t>O +Compras apoia a decisão do comprador — não a substitui.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9601200" cy="2743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Produto em construção: capacidades de IA já existem; portal e automação seguem no roadmap</a:t>
            </a:r>
          </a:p>
          <a:p>
            <a:pPr>
              <a:spcAft>
                <a:spcPts val="864"/>
              </a:spcAft>
            </a:pPr>
            <a:r>
              <a:rPr sz="1500">
                <a:solidFill>
                  <a:srgbClr val="6B6860"/>
                </a:solidFill>
                <a:latin typeface="DM Sans"/>
              </a:rPr>
              <a:t>•  Segurança de dados de fornecedores é requisito do módulo de Identidade (Fase 1)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1097280"/>
            <a:ext cx="4389120" cy="14007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377440"/>
            <a:ext cx="102412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000" b="1" i="0">
                <a:solidFill>
                  <a:srgbClr val="FFFFFF"/>
                </a:solidFill>
                <a:latin typeface="Inter Tight"/>
              </a:rPr>
              <a:t>O +Compras já apoia o comprador sênior hoje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069080"/>
            <a:ext cx="2743200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22960" y="429768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 i="0">
                <a:solidFill>
                  <a:srgbClr val="E8E8E8"/>
                </a:solidFill>
                <a:latin typeface="DM Sans"/>
              </a:rPr>
              <a:t>É o primeiro produto construído sobre o BlueprintOS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