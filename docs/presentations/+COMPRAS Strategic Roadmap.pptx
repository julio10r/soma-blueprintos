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o Cesar" userId="db9ead93-524f-49c4-99e2-ce709d4f9eb3" providerId="ADAL" clId="{0451D1E9-AEAE-5420-A05A-02AAE7788AF1}"/>
    <pc:docChg chg="custSel modSld">
      <pc:chgData name="Julio Cesar" userId="db9ead93-524f-49c4-99e2-ce709d4f9eb3" providerId="ADAL" clId="{0451D1E9-AEAE-5420-A05A-02AAE7788AF1}" dt="2026-07-23T18:51:23.936" v="13" actId="478"/>
      <pc:docMkLst>
        <pc:docMk/>
      </pc:docMkLst>
      <pc:sldChg chg="modSp mod">
        <pc:chgData name="Julio Cesar" userId="db9ead93-524f-49c4-99e2-ce709d4f9eb3" providerId="ADAL" clId="{0451D1E9-AEAE-5420-A05A-02AAE7788AF1}" dt="2026-07-23T18:50:10.468" v="0" actId="20577"/>
        <pc:sldMkLst>
          <pc:docMk/>
          <pc:sldMk cId="0" sldId="258"/>
        </pc:sldMkLst>
        <pc:spChg chg="mod">
          <ac:chgData name="Julio Cesar" userId="db9ead93-524f-49c4-99e2-ce709d4f9eb3" providerId="ADAL" clId="{0451D1E9-AEAE-5420-A05A-02AAE7788AF1}" dt="2026-07-23T18:50:10.468" v="0" actId="2057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Julio Cesar" userId="db9ead93-524f-49c4-99e2-ce709d4f9eb3" providerId="ADAL" clId="{0451D1E9-AEAE-5420-A05A-02AAE7788AF1}" dt="2026-07-23T18:50:15.958" v="1" actId="20577"/>
        <pc:sldMkLst>
          <pc:docMk/>
          <pc:sldMk cId="0" sldId="259"/>
        </pc:sldMkLst>
        <pc:spChg chg="mod">
          <ac:chgData name="Julio Cesar" userId="db9ead93-524f-49c4-99e2-ce709d4f9eb3" providerId="ADAL" clId="{0451D1E9-AEAE-5420-A05A-02AAE7788AF1}" dt="2026-07-23T18:50:15.958" v="1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ulio Cesar" userId="db9ead93-524f-49c4-99e2-ce709d4f9eb3" providerId="ADAL" clId="{0451D1E9-AEAE-5420-A05A-02AAE7788AF1}" dt="2026-07-23T18:50:27.885" v="3" actId="20577"/>
        <pc:sldMkLst>
          <pc:docMk/>
          <pc:sldMk cId="0" sldId="260"/>
        </pc:sldMkLst>
        <pc:spChg chg="mod">
          <ac:chgData name="Julio Cesar" userId="db9ead93-524f-49c4-99e2-ce709d4f9eb3" providerId="ADAL" clId="{0451D1E9-AEAE-5420-A05A-02AAE7788AF1}" dt="2026-07-23T18:50:27.885" v="3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Julio Cesar" userId="db9ead93-524f-49c4-99e2-ce709d4f9eb3" providerId="ADAL" clId="{0451D1E9-AEAE-5420-A05A-02AAE7788AF1}" dt="2026-07-23T18:50:34.857" v="4" actId="20577"/>
        <pc:sldMkLst>
          <pc:docMk/>
          <pc:sldMk cId="0" sldId="261"/>
        </pc:sldMkLst>
        <pc:spChg chg="mod">
          <ac:chgData name="Julio Cesar" userId="db9ead93-524f-49c4-99e2-ce709d4f9eb3" providerId="ADAL" clId="{0451D1E9-AEAE-5420-A05A-02AAE7788AF1}" dt="2026-07-23T18:50:34.857" v="4" actId="20577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Julio Cesar" userId="db9ead93-524f-49c4-99e2-ce709d4f9eb3" providerId="ADAL" clId="{0451D1E9-AEAE-5420-A05A-02AAE7788AF1}" dt="2026-07-23T18:50:41.885" v="5" actId="20577"/>
        <pc:sldMkLst>
          <pc:docMk/>
          <pc:sldMk cId="0" sldId="262"/>
        </pc:sldMkLst>
        <pc:spChg chg="mod">
          <ac:chgData name="Julio Cesar" userId="db9ead93-524f-49c4-99e2-ce709d4f9eb3" providerId="ADAL" clId="{0451D1E9-AEAE-5420-A05A-02AAE7788AF1}" dt="2026-07-23T18:50:41.885" v="5" actId="20577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ulio Cesar" userId="db9ead93-524f-49c4-99e2-ce709d4f9eb3" providerId="ADAL" clId="{0451D1E9-AEAE-5420-A05A-02AAE7788AF1}" dt="2026-07-23T18:50:46.479" v="6" actId="20577"/>
        <pc:sldMkLst>
          <pc:docMk/>
          <pc:sldMk cId="0" sldId="263"/>
        </pc:sldMkLst>
        <pc:spChg chg="mod">
          <ac:chgData name="Julio Cesar" userId="db9ead93-524f-49c4-99e2-ce709d4f9eb3" providerId="ADAL" clId="{0451D1E9-AEAE-5420-A05A-02AAE7788AF1}" dt="2026-07-23T18:50:46.479" v="6" actId="20577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Julio Cesar" userId="db9ead93-524f-49c4-99e2-ce709d4f9eb3" providerId="ADAL" clId="{0451D1E9-AEAE-5420-A05A-02AAE7788AF1}" dt="2026-07-23T18:50:53.384" v="7" actId="20577"/>
        <pc:sldMkLst>
          <pc:docMk/>
          <pc:sldMk cId="0" sldId="264"/>
        </pc:sldMkLst>
        <pc:spChg chg="mod">
          <ac:chgData name="Julio Cesar" userId="db9ead93-524f-49c4-99e2-ce709d4f9eb3" providerId="ADAL" clId="{0451D1E9-AEAE-5420-A05A-02AAE7788AF1}" dt="2026-07-23T18:50:53.384" v="7" actId="20577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Julio Cesar" userId="db9ead93-524f-49c4-99e2-ce709d4f9eb3" providerId="ADAL" clId="{0451D1E9-AEAE-5420-A05A-02AAE7788AF1}" dt="2026-07-23T18:51:00.149" v="8" actId="20577"/>
        <pc:sldMkLst>
          <pc:docMk/>
          <pc:sldMk cId="0" sldId="265"/>
        </pc:sldMkLst>
        <pc:spChg chg="mod">
          <ac:chgData name="Julio Cesar" userId="db9ead93-524f-49c4-99e2-ce709d4f9eb3" providerId="ADAL" clId="{0451D1E9-AEAE-5420-A05A-02AAE7788AF1}" dt="2026-07-23T18:51:00.149" v="8" actId="20577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ulio Cesar" userId="db9ead93-524f-49c4-99e2-ce709d4f9eb3" providerId="ADAL" clId="{0451D1E9-AEAE-5420-A05A-02AAE7788AF1}" dt="2026-07-23T18:51:04.458" v="9" actId="20577"/>
        <pc:sldMkLst>
          <pc:docMk/>
          <pc:sldMk cId="0" sldId="266"/>
        </pc:sldMkLst>
        <pc:spChg chg="mod">
          <ac:chgData name="Julio Cesar" userId="db9ead93-524f-49c4-99e2-ce709d4f9eb3" providerId="ADAL" clId="{0451D1E9-AEAE-5420-A05A-02AAE7788AF1}" dt="2026-07-23T18:51:04.458" v="9" actId="20577"/>
          <ac:spMkLst>
            <pc:docMk/>
            <pc:sldMk cId="0" sldId="266"/>
            <ac:spMk id="4" creationId="{00000000-0000-0000-0000-000000000000}"/>
          </ac:spMkLst>
        </pc:spChg>
      </pc:sldChg>
      <pc:sldChg chg="delSp modSp mod">
        <pc:chgData name="Julio Cesar" userId="db9ead93-524f-49c4-99e2-ce709d4f9eb3" providerId="ADAL" clId="{0451D1E9-AEAE-5420-A05A-02AAE7788AF1}" dt="2026-07-23T18:51:23.936" v="13" actId="478"/>
        <pc:sldMkLst>
          <pc:docMk/>
          <pc:sldMk cId="0" sldId="267"/>
        </pc:sldMkLst>
        <pc:spChg chg="del mod">
          <ac:chgData name="Julio Cesar" userId="db9ead93-524f-49c4-99e2-ce709d4f9eb3" providerId="ADAL" clId="{0451D1E9-AEAE-5420-A05A-02AAE7788AF1}" dt="2026-07-23T18:51:23.936" v="13" actId="478"/>
          <ac:spMkLst>
            <pc:docMk/>
            <pc:sldMk cId="0" sldId="267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itorial-desert-du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zzas-2154-mark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nter Tight"/>
              </a:rPr>
              <a:t>+COMPRAS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DM Sans"/>
              </a:rPr>
              <a:t>Strategic Roadmap — Executive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DM Sans"/>
              </a:rPr>
              <a:t>An Enterprise AI Procurement Platform powered by SOMA BlueprintOS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DASHBOARD EXECUTIVO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2"/>
          <p:cNvSpPr/>
          <p:nvPr/>
        </p:nvSpPr>
        <p:spPr>
          <a:xfrm>
            <a:off x="640080" y="3432048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3"/>
          <p:cNvSpPr/>
          <p:nvPr/>
        </p:nvSpPr>
        <p:spPr>
          <a:xfrm>
            <a:off x="896112" y="3688080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Objetivo</a:t>
            </a:r>
          </a:p>
        </p:txBody>
      </p:sp>
      <p:sp>
        <p:nvSpPr>
          <p:cNvPr id="21" name="TextBox 4"/>
          <p:cNvSpPr txBox="1"/>
          <p:nvPr/>
        </p:nvSpPr>
        <p:spPr>
          <a:xfrm>
            <a:off x="1307592" y="3669792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Última Sprint Concluída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860"/>
                </a:solidFill>
                <a:latin typeface="DM Sans"/>
              </a:rPr>
              <a:t>Automatizar e otimizar o ciclo de compras corporativo através de agentes de IA especializados, orquestrados pelo SOMA BlueprintOS.</a:t>
            </a:r>
          </a:p>
        </p:txBody>
      </p:sp>
      <p:sp>
        <p:nvSpPr>
          <p:cNvPr id="22" name="TextBox 5"/>
          <p:cNvSpPr txBox="1"/>
          <p:nvPr/>
        </p:nvSpPr>
        <p:spPr>
          <a:xfrm>
            <a:off x="896112" y="4191000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860"/>
                </a:solidFill>
                <a:latin typeface="DM Sans"/>
              </a:rPr>
              <a:t>Sprint A5 — Multi-Tenant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6"/>
          <p:cNvSpPr/>
          <p:nvPr/>
        </p:nvSpPr>
        <p:spPr>
          <a:xfrm>
            <a:off x="4343400" y="3432048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7"/>
          <p:cNvSpPr/>
          <p:nvPr/>
        </p:nvSpPr>
        <p:spPr>
          <a:xfrm>
            <a:off x="4599432" y="3688080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Progresso Geral</a:t>
            </a:r>
          </a:p>
        </p:txBody>
      </p:sp>
      <p:sp>
        <p:nvSpPr>
          <p:cNvPr id="25" name="TextBox 8"/>
          <p:cNvSpPr txBox="1"/>
          <p:nvPr/>
        </p:nvSpPr>
        <p:spPr>
          <a:xfrm>
            <a:off x="5010912" y="3669792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Próximo Marco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860"/>
                </a:solidFill>
                <a:latin typeface="DM Sans"/>
              </a:rPr>
              <a:t>12% concluído</a:t>
            </a:r>
          </a:p>
          <a:p>
            <a:r>
              <a:rPr sz="1150" b="0">
                <a:solidFill>
                  <a:srgbClr val="6B6860"/>
                </a:solidFill>
                <a:latin typeface="DM Sans"/>
              </a:rPr>
              <a:t>1 de 8 fases em andamento (Fase A: Foundation).</a:t>
            </a:r>
          </a:p>
        </p:txBody>
      </p:sp>
      <p:sp>
        <p:nvSpPr>
          <p:cNvPr id="26" name="TextBox 9"/>
          <p:cNvSpPr txBox="1"/>
          <p:nvPr/>
        </p:nvSpPr>
        <p:spPr>
          <a:xfrm>
            <a:off x="4599432" y="4191000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860"/>
                </a:solidFill>
                <a:latin typeface="DM Sans"/>
              </a:rPr>
              <a:t>Sprint A7 — Documentation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0"/>
          <p:cNvSpPr/>
          <p:nvPr/>
        </p:nvSpPr>
        <p:spPr>
          <a:xfrm>
            <a:off x="8046720" y="3432048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11"/>
          <p:cNvSpPr/>
          <p:nvPr/>
        </p:nvSpPr>
        <p:spPr>
          <a:xfrm>
            <a:off x="8302752" y="3688080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Sprint Atual</a:t>
            </a:r>
          </a:p>
        </p:txBody>
      </p:sp>
      <p:sp>
        <p:nvSpPr>
          <p:cNvPr id="29" name="TextBox 12"/>
          <p:cNvSpPr txBox="1"/>
          <p:nvPr/>
        </p:nvSpPr>
        <p:spPr>
          <a:xfrm>
            <a:off x="8714232" y="3669792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Status Geral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860"/>
                </a:solidFill>
                <a:latin typeface="DM Sans"/>
              </a:rPr>
              <a:t>Sprint A6 — Senior Buyer Agent</a:t>
            </a:r>
          </a:p>
        </p:txBody>
      </p:sp>
      <p:sp>
        <p:nvSpPr>
          <p:cNvPr id="30" name="TextBox 13"/>
          <p:cNvSpPr txBox="1"/>
          <p:nvPr/>
        </p:nvSpPr>
        <p:spPr>
          <a:xfrm>
            <a:off x="8302752" y="4191000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860"/>
                </a:solidFill>
                <a:latin typeface="DM Sans"/>
              </a:rPr>
              <a:t>Em andamento — Fase A: Foundation</a:t>
            </a:r>
          </a:p>
        </p:txBody>
      </p:sp>
      <p:sp>
        <p:nvSpPr>
          <p:cNvPr id="15" name="Progress Track"/>
          <p:cNvSpPr/>
          <p:nvPr/>
        </p:nvSpPr>
        <p:spPr>
          <a:xfrm>
            <a:off x="4599432" y="2746248"/>
            <a:ext cx="2871216" cy="109728"/>
          </a:xfrm>
          <a:prstGeom prst="rect">
            <a:avLst/>
          </a:prstGeom>
          <a:solidFill>
            <a:srgbClr val="E2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ogress Fill"/>
          <p:cNvSpPr/>
          <p:nvPr/>
        </p:nvSpPr>
        <p:spPr>
          <a:xfrm>
            <a:off x="4599432" y="2746248"/>
            <a:ext cx="344545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ROADMAP GERAL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41120"/>
            <a:ext cx="1194777" cy="795528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587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/>
          <p:cNvSpPr/>
          <p:nvPr/>
        </p:nvSpPr>
        <p:spPr>
          <a:xfrm>
            <a:off x="1962873" y="1341120"/>
            <a:ext cx="1194777" cy="795528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2"/>
          <p:cNvSpPr/>
          <p:nvPr/>
        </p:nvSpPr>
        <p:spPr>
          <a:xfrm>
            <a:off x="3377106" y="1341120"/>
            <a:ext cx="1194777" cy="795528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2"/>
          <p:cNvSpPr/>
          <p:nvPr/>
        </p:nvSpPr>
        <p:spPr>
          <a:xfrm>
            <a:off x="4791339" y="1341120"/>
            <a:ext cx="1194777" cy="795528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2"/>
          <p:cNvSpPr/>
          <p:nvPr/>
        </p:nvSpPr>
        <p:spPr>
          <a:xfrm>
            <a:off x="6205572" y="1341120"/>
            <a:ext cx="1194777" cy="795528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2"/>
          <p:cNvSpPr/>
          <p:nvPr/>
        </p:nvSpPr>
        <p:spPr>
          <a:xfrm>
            <a:off x="7619805" y="1341120"/>
            <a:ext cx="1194777" cy="795528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2"/>
          <p:cNvSpPr/>
          <p:nvPr/>
        </p:nvSpPr>
        <p:spPr>
          <a:xfrm>
            <a:off x="9034038" y="1341120"/>
            <a:ext cx="1194777" cy="795528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2"/>
          <p:cNvSpPr/>
          <p:nvPr/>
        </p:nvSpPr>
        <p:spPr>
          <a:xfrm>
            <a:off x="10448271" y="1341120"/>
            <a:ext cx="1194777" cy="795528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1524000"/>
            <a:ext cx="1121625" cy="612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A90D9"/>
                </a:solidFill>
                <a:latin typeface="DM Mono"/>
              </a:rPr>
              <a:t>FASE A</a:t>
            </a:r>
          </a:p>
          <a:p>
            <a:pPr algn="ctr"/>
            <a:r>
              <a:rPr sz="900" b="0">
                <a:solidFill>
                  <a:srgbClr val="4A90D9"/>
                </a:solidFill>
                <a:latin typeface="DM Mono"/>
              </a:rPr>
              <a:t>Foundation</a:t>
            </a:r>
          </a:p>
        </p:txBody>
      </p:sp>
      <p:sp>
        <p:nvSpPr>
          <p:cNvPr id="16" name="TextBox 3"/>
          <p:cNvSpPr txBox="1"/>
          <p:nvPr/>
        </p:nvSpPr>
        <p:spPr>
          <a:xfrm>
            <a:off x="1999449" y="1524000"/>
            <a:ext cx="1121625" cy="612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916"/>
                </a:solidFill>
                <a:latin typeface="DM Mono"/>
              </a:rPr>
              <a:t>FASE B</a:t>
            </a:r>
          </a:p>
          <a:p>
            <a:pPr algn="ctr"/>
            <a:r>
              <a:rPr sz="900" b="0">
                <a:solidFill>
                  <a:srgbClr val="1A1916"/>
                </a:solidFill>
                <a:latin typeface="DM Mono"/>
              </a:rPr>
              <a:t>Sourcing Intelligence</a:t>
            </a:r>
          </a:p>
        </p:txBody>
      </p:sp>
      <p:sp>
        <p:nvSpPr>
          <p:cNvPr id="17" name="TextBox 3"/>
          <p:cNvSpPr txBox="1"/>
          <p:nvPr/>
        </p:nvSpPr>
        <p:spPr>
          <a:xfrm>
            <a:off x="3413682" y="1524000"/>
            <a:ext cx="1121625" cy="612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916"/>
                </a:solidFill>
                <a:latin typeface="DM Mono"/>
              </a:rPr>
              <a:t>FASE C</a:t>
            </a:r>
          </a:p>
          <a:p>
            <a:pPr algn="ctr"/>
            <a:r>
              <a:rPr sz="900" b="0">
                <a:solidFill>
                  <a:srgbClr val="1A1916"/>
                </a:solidFill>
                <a:latin typeface="DM Mono"/>
              </a:rPr>
              <a:t>Negotiation Automation</a:t>
            </a:r>
          </a:p>
        </p:txBody>
      </p:sp>
      <p:sp>
        <p:nvSpPr>
          <p:cNvPr id="18" name="TextBox 3"/>
          <p:cNvSpPr txBox="1"/>
          <p:nvPr/>
        </p:nvSpPr>
        <p:spPr>
          <a:xfrm>
            <a:off x="4827915" y="1524000"/>
            <a:ext cx="1121625" cy="612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916"/>
                </a:solidFill>
                <a:latin typeface="DM Mono"/>
              </a:rPr>
              <a:t>FASE D</a:t>
            </a:r>
          </a:p>
          <a:p>
            <a:pPr algn="ctr"/>
            <a:r>
              <a:rPr sz="900" b="0">
                <a:solidFill>
                  <a:srgbClr val="1A1916"/>
                </a:solidFill>
                <a:latin typeface="DM Mono"/>
              </a:rPr>
              <a:t>Contract &amp; Compliance</a:t>
            </a:r>
          </a:p>
        </p:txBody>
      </p:sp>
      <p:sp>
        <p:nvSpPr>
          <p:cNvPr id="19" name="TextBox 3"/>
          <p:cNvSpPr txBox="1"/>
          <p:nvPr/>
        </p:nvSpPr>
        <p:spPr>
          <a:xfrm>
            <a:off x="6242148" y="1524000"/>
            <a:ext cx="1121625" cy="612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916"/>
                </a:solidFill>
                <a:latin typeface="DM Mono"/>
              </a:rPr>
              <a:t>FASE E</a:t>
            </a:r>
          </a:p>
          <a:p>
            <a:pPr algn="ctr"/>
            <a:r>
              <a:rPr sz="900" b="0">
                <a:solidFill>
                  <a:srgbClr val="1A1916"/>
                </a:solidFill>
                <a:latin typeface="DM Mono"/>
              </a:rPr>
              <a:t>Supplier Risk &amp; ESG</a:t>
            </a:r>
          </a:p>
        </p:txBody>
      </p:sp>
      <p:sp>
        <p:nvSpPr>
          <p:cNvPr id="20" name="TextBox 3"/>
          <p:cNvSpPr txBox="1"/>
          <p:nvPr/>
        </p:nvSpPr>
        <p:spPr>
          <a:xfrm>
            <a:off x="7656381" y="1524000"/>
            <a:ext cx="1121625" cy="612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916"/>
                </a:solidFill>
                <a:latin typeface="DM Mono"/>
              </a:rPr>
              <a:t>FASE F</a:t>
            </a:r>
          </a:p>
          <a:p>
            <a:pPr algn="ctr"/>
            <a:r>
              <a:rPr sz="900" b="0">
                <a:solidFill>
                  <a:srgbClr val="1A1916"/>
                </a:solidFill>
                <a:latin typeface="DM Mono"/>
              </a:rPr>
              <a:t>Predictive Analytics</a:t>
            </a:r>
          </a:p>
        </p:txBody>
      </p:sp>
      <p:sp>
        <p:nvSpPr>
          <p:cNvPr id="21" name="TextBox 3"/>
          <p:cNvSpPr txBox="1"/>
          <p:nvPr/>
        </p:nvSpPr>
        <p:spPr>
          <a:xfrm>
            <a:off x="9070614" y="1524000"/>
            <a:ext cx="1121625" cy="612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916"/>
                </a:solidFill>
                <a:latin typeface="DM Mono"/>
              </a:rPr>
              <a:t>FASE G</a:t>
            </a:r>
          </a:p>
          <a:p>
            <a:pPr algn="ctr"/>
            <a:r>
              <a:rPr sz="900" b="0">
                <a:solidFill>
                  <a:srgbClr val="1A1916"/>
                </a:solidFill>
                <a:latin typeface="DM Mono"/>
              </a:rPr>
              <a:t>Marketplace &amp; Integrations</a:t>
            </a:r>
          </a:p>
        </p:txBody>
      </p:sp>
      <p:sp>
        <p:nvSpPr>
          <p:cNvPr id="22" name="TextBox 3"/>
          <p:cNvSpPr txBox="1"/>
          <p:nvPr/>
        </p:nvSpPr>
        <p:spPr>
          <a:xfrm>
            <a:off x="10484847" y="1524000"/>
            <a:ext cx="1121625" cy="612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A1916"/>
                </a:solidFill>
                <a:latin typeface="DM Mono"/>
              </a:rPr>
              <a:t>FASE H</a:t>
            </a:r>
          </a:p>
          <a:p>
            <a:pPr algn="ctr"/>
            <a:r>
              <a:rPr sz="900" b="0">
                <a:solidFill>
                  <a:srgbClr val="1A1916"/>
                </a:solidFill>
                <a:latin typeface="DM Mono"/>
              </a:rPr>
              <a:t>Scale &amp; Global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43417" y="1670304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23" name="TextBox 4"/>
          <p:cNvSpPr txBox="1"/>
          <p:nvPr/>
        </p:nvSpPr>
        <p:spPr>
          <a:xfrm>
            <a:off x="3157650" y="1670304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24" name="TextBox 4"/>
          <p:cNvSpPr txBox="1"/>
          <p:nvPr/>
        </p:nvSpPr>
        <p:spPr>
          <a:xfrm>
            <a:off x="4571883" y="1670304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25" name="TextBox 4"/>
          <p:cNvSpPr txBox="1"/>
          <p:nvPr/>
        </p:nvSpPr>
        <p:spPr>
          <a:xfrm>
            <a:off x="5986116" y="1670304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26" name="TextBox 4"/>
          <p:cNvSpPr txBox="1"/>
          <p:nvPr/>
        </p:nvSpPr>
        <p:spPr>
          <a:xfrm>
            <a:off x="7400349" y="1670304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27" name="TextBox 4"/>
          <p:cNvSpPr txBox="1"/>
          <p:nvPr/>
        </p:nvSpPr>
        <p:spPr>
          <a:xfrm>
            <a:off x="8814582" y="1670304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28" name="TextBox 4"/>
          <p:cNvSpPr txBox="1"/>
          <p:nvPr/>
        </p:nvSpPr>
        <p:spPr>
          <a:xfrm>
            <a:off x="10228815" y="1670304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0058400" cy="2923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300" dirty="0">
                <a:solidFill>
                  <a:srgbClr val="6B6860"/>
                </a:solidFill>
                <a:latin typeface="DM Sans"/>
              </a:rPr>
              <a:t>•  Fase A (Foundation) </a:t>
            </a:r>
            <a:r>
              <a:rPr sz="1300" dirty="0" err="1">
                <a:solidFill>
                  <a:srgbClr val="6B6860"/>
                </a:solidFill>
                <a:latin typeface="DM Sans"/>
              </a:rPr>
              <a:t>em</a:t>
            </a:r>
            <a:r>
              <a:rPr sz="1300" dirty="0">
                <a:solidFill>
                  <a:srgbClr val="6B6860"/>
                </a:solidFill>
                <a:latin typeface="DM Sans"/>
              </a:rPr>
              <a:t> </a:t>
            </a:r>
            <a:r>
              <a:rPr sz="1300" dirty="0" err="1">
                <a:solidFill>
                  <a:srgbClr val="6B6860"/>
                </a:solidFill>
                <a:latin typeface="DM Sans"/>
              </a:rPr>
              <a:t>andamento</a:t>
            </a:r>
            <a:r>
              <a:rPr sz="1300" dirty="0">
                <a:solidFill>
                  <a:srgbClr val="6B6860"/>
                </a:solidFill>
                <a:latin typeface="DM Sans"/>
              </a:rPr>
              <a:t> — 7 sprints </a:t>
            </a:r>
            <a:r>
              <a:rPr sz="1300" dirty="0" err="1">
                <a:solidFill>
                  <a:srgbClr val="6B6860"/>
                </a:solidFill>
                <a:latin typeface="DM Sans"/>
              </a:rPr>
              <a:t>concluídas</a:t>
            </a:r>
            <a:r>
              <a:rPr sz="1300" dirty="0">
                <a:solidFill>
                  <a:srgbClr val="6B6860"/>
                </a:solidFill>
                <a:latin typeface="DM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FASE A · FOUNDATION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10881360" cy="402336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449"/>
            <a:ext cx="10332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4A90D9"/>
                </a:solidFill>
                <a:latin typeface="DM Sans"/>
              </a:rPr>
              <a:t>Status: Em </a:t>
            </a:r>
            <a:r>
              <a:rPr sz="1100" b="1" dirty="0" err="1">
                <a:solidFill>
                  <a:srgbClr val="4A90D9"/>
                </a:solidFill>
                <a:latin typeface="DM Sans"/>
              </a:rPr>
              <a:t>andamento</a:t>
            </a:r>
            <a:endParaRPr sz="1100" b="1" dirty="0">
              <a:solidFill>
                <a:srgbClr val="1A1916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9601200" cy="3886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A1 · Foundation Architecture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Arquitetura modular (Modular Monolith + Clean Architecture + DDD) e padrões de engenharia estabelecidos.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entregue: </a:t>
            </a:r>
            <a:r>
              <a:rPr sz="900" b="0">
                <a:solidFill>
                  <a:srgbClr val="6B6860"/>
                </a:solidFill>
                <a:latin typeface="DM Sans"/>
              </a:rPr>
              <a:t>base técnica sólida e extensível para todos os módulos futuros.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A2 · AI Runtime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Motor de execução de agentes de IA especializados.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entregue: </a:t>
            </a:r>
            <a:r>
              <a:rPr sz="900" b="0">
                <a:solidFill>
                  <a:srgbClr val="6B6860"/>
                </a:solidFill>
                <a:latin typeface="DM Sans"/>
              </a:rPr>
              <a:t>capacidade nativa de orquestrar agentes de IA na plataforma.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A3 · Core Platform — </a:t>
            </a:r>
            <a:r>
              <a:rPr sz="950" b="0">
                <a:solidFill>
                  <a:srgbClr val="6B6860"/>
                </a:solidFill>
                <a:latin typeface="DM Sans"/>
              </a:rPr>
              <a:t>Infraestrutura central (API, autenticação, dados).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entregue: </a:t>
            </a:r>
            <a:r>
              <a:rPr sz="900" b="0">
                <a:solidFill>
                  <a:srgbClr val="6B6860"/>
                </a:solidFill>
                <a:latin typeface="DM Sans"/>
              </a:rPr>
              <a:t>plataforma operacional pronta para receber módulos de negócio.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A4 · Planner Engine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Motor de decomposição e execução de planos de trabalho.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entregue: </a:t>
            </a:r>
            <a:r>
              <a:rPr sz="900" b="0">
                <a:solidFill>
                  <a:srgbClr val="6B6860"/>
                </a:solidFill>
                <a:latin typeface="DM Sans"/>
              </a:rPr>
              <a:t>automação de fluxos complexos de compra em etapas gerenciáveis.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A5 · Multi-Tenant — </a:t>
            </a:r>
            <a:r>
              <a:rPr sz="950" b="0">
                <a:solidFill>
                  <a:srgbClr val="6B6860"/>
                </a:solidFill>
                <a:latin typeface="DM Sans"/>
              </a:rPr>
              <a:t>Suporte a múltiplos clientes/organizações isolados.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entregue: </a:t>
            </a:r>
            <a:r>
              <a:rPr sz="900" b="0">
                <a:solidFill>
                  <a:srgbClr val="6B6860"/>
                </a:solidFill>
                <a:latin typeface="DM Sans"/>
              </a:rPr>
              <a:t>plataforma pronta para operação enterprise multi-cliente.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A6 · Senior Buyer Agent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Agente de IA especializado em decisões de compra experientes.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entregue: </a:t>
            </a:r>
            <a:r>
              <a:rPr sz="900" b="0">
                <a:solidFill>
                  <a:srgbClr val="6B6860"/>
                </a:solidFill>
                <a:latin typeface="DM Sans"/>
              </a:rPr>
              <a:t>recomendações de compra com nível de um comprador sênior.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A7 · Documentation Engine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Geração automática de documentação viva do produto.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entregue: </a:t>
            </a:r>
            <a:r>
              <a:rPr sz="900" b="0">
                <a:solidFill>
                  <a:srgbClr val="6B6860"/>
                </a:solidFill>
                <a:latin typeface="DM Sans"/>
              </a:rPr>
              <a:t>transparência total do progresso para stakeholders, sem esforço manual.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916"/>
                </a:solidFill>
                <a:latin typeface="Inter Tight"/>
              </a:rPr>
              <a:t>Fase A —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916"/>
                </a:solidFill>
                <a:latin typeface="DM Sans"/>
              </a:rPr>
              <a:t>Objetivo:  </a:t>
            </a:r>
            <a:r>
              <a:rPr sz="1150" b="0">
                <a:solidFill>
                  <a:srgbClr val="6B6860"/>
                </a:solidFill>
                <a:latin typeface="DM Sans"/>
              </a:rPr>
              <a:t>Estabelecer a arquitetura, o runtime de IA e a infraestrutura central que sustentam toda a plataforma +COMPRAS.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FASE B · SOURCING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10881360" cy="402336"/>
          </a:xfrm>
          <a:prstGeom prst="roundRect">
            <a:avLst>
              <a:gd name="adj" fmla="val 6000"/>
            </a:avLst>
          </a:prstGeom>
          <a:solidFill>
            <a:srgbClr val="F3EBF9"/>
          </a:solidFill>
          <a:ln w="12700">
            <a:solidFill>
              <a:srgbClr val="9B6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449"/>
            <a:ext cx="10332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9B6CC8"/>
                </a:solidFill>
                <a:latin typeface="DM Sans"/>
              </a:rPr>
              <a:t>Status: </a:t>
            </a:r>
            <a:r>
              <a:rPr sz="1100" b="1" dirty="0" err="1">
                <a:solidFill>
                  <a:srgbClr val="9B6CC8"/>
                </a:solidFill>
                <a:latin typeface="DM Sans"/>
              </a:rPr>
              <a:t>Planejado</a:t>
            </a:r>
            <a:r>
              <a:rPr sz="1100" b="1" dirty="0">
                <a:solidFill>
                  <a:srgbClr val="1A1916"/>
                </a:solidFill>
                <a:latin typeface="DM Sans"/>
              </a:rPr>
              <a:t>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9601200" cy="3886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B1 · Supplier Discovery Engine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Identificação automática de fornecedores qualificados.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redução do tempo de prospecção de fornecedores.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B2 · Market Intelligence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Análise de mercado e benchmarking de preços em tempo real.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decisões de compra baseadas em dados de mercado atualizados.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B3 · RFQ Automation — </a:t>
            </a:r>
            <a:r>
              <a:rPr sz="950" b="0">
                <a:solidFill>
                  <a:srgbClr val="6B6860"/>
                </a:solidFill>
                <a:latin typeface="DM Sans"/>
              </a:rPr>
              <a:t>Geração e envio automatizado de cotações (RFQ).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ciclo de cotação mais rápido e padronizado.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B4 · Supplier Scoring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Avaliação automática de fornecedores por critérios de performance.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seleção de fornecedores mais objetiva e consistente.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B5 · Category Management AI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Agente especializado por categoria de compra.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expertise de categoria disponível em escala.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B6 · Spend Visibility — </a:t>
            </a:r>
            <a:r>
              <a:rPr sz="950" b="0">
                <a:solidFill>
                  <a:srgbClr val="6B6860"/>
                </a:solidFill>
                <a:latin typeface="DM Sans"/>
              </a:rPr>
              <a:t>Painel de visibilidade de gastos por categoria/fornecedor.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controle total do gasto corporativo em tempo real.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B7 · Sourcing Playbooks — </a:t>
            </a:r>
            <a:r>
              <a:rPr sz="950" b="0">
                <a:solidFill>
                  <a:srgbClr val="6B6860"/>
                </a:solidFill>
                <a:latin typeface="DM Sans"/>
              </a:rPr>
              <a:t>Bibliotecas de estratégias de sourcing reutilizáveis.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padronização de melhores práticas entre categorias.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916"/>
                </a:solidFill>
                <a:latin typeface="Inter Tight"/>
              </a:rPr>
              <a:t>Fase B — Sourcing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916"/>
                </a:solidFill>
                <a:latin typeface="DM Sans"/>
              </a:rPr>
              <a:t>Objetivo:  </a:t>
            </a:r>
            <a:r>
              <a:rPr sz="1150" b="0">
                <a:solidFill>
                  <a:srgbClr val="6B6860"/>
                </a:solidFill>
                <a:latin typeface="DM Sans"/>
              </a:rPr>
              <a:t>Prover inteligência de mercado e automação de sourcing para acelerar e qualificar a prospecção de fornecedores.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FASE C · NEGOTIATION AUTOMATION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10881360" cy="402336"/>
          </a:xfrm>
          <a:prstGeom prst="roundRect">
            <a:avLst>
              <a:gd name="adj" fmla="val 6000"/>
            </a:avLst>
          </a:prstGeom>
          <a:solidFill>
            <a:srgbClr val="F3EBF9"/>
          </a:solidFill>
          <a:ln w="12700">
            <a:solidFill>
              <a:srgbClr val="9B6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449"/>
            <a:ext cx="10332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9B6CC8"/>
                </a:solidFill>
                <a:latin typeface="DM Sans"/>
              </a:rPr>
              <a:t>Status: </a:t>
            </a:r>
            <a:r>
              <a:rPr sz="1100" b="1" dirty="0" err="1">
                <a:solidFill>
                  <a:srgbClr val="9B6CC8"/>
                </a:solidFill>
                <a:latin typeface="DM Sans"/>
              </a:rPr>
              <a:t>Planejado</a:t>
            </a:r>
            <a:endParaRPr sz="1100" b="1" dirty="0">
              <a:solidFill>
                <a:srgbClr val="1A1916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9601200" cy="3886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C1 · Negotiation Agent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Agente de IA para condução de negociações estruturadas.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negociações mais consistentes e menos dependentes de indivíduos.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C2 · Price Benchmarking — </a:t>
            </a:r>
            <a:r>
              <a:rPr sz="950" b="0">
                <a:solidFill>
                  <a:srgbClr val="6B6860"/>
                </a:solidFill>
                <a:latin typeface="DM Sans"/>
              </a:rPr>
              <a:t>Comparação automática de preços contra histórico e mercado.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identificação imediata de desvios de preço.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C3 · Multi-Round Bidding — </a:t>
            </a:r>
            <a:r>
              <a:rPr sz="950" b="0">
                <a:solidFill>
                  <a:srgbClr val="6B6860"/>
                </a:solidFill>
                <a:latin typeface="DM Sans"/>
              </a:rPr>
              <a:t>Orquestração de rodadas de leilão/disputa entre fornecedores.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melhores condições comerciais através de disputa estruturada.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C4 · Approval Workflows — </a:t>
            </a:r>
            <a:r>
              <a:rPr sz="950" b="0">
                <a:solidFill>
                  <a:srgbClr val="6B6860"/>
                </a:solidFill>
                <a:latin typeface="DM Sans"/>
              </a:rPr>
              <a:t>Fluxos de aprovação configuráveis por alçada.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governança de aprovação sem gargalos manuais.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C5 · Contract Term Optimizer — </a:t>
            </a:r>
            <a:r>
              <a:rPr sz="950" b="0">
                <a:solidFill>
                  <a:srgbClr val="6B6860"/>
                </a:solidFill>
                <a:latin typeface="DM Sans"/>
              </a:rPr>
              <a:t>Sugestão automática de termos contratuais favoráveis.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contratos com condições mais vantajosas por padrão.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C6 · Savings Tracker — </a:t>
            </a:r>
            <a:r>
              <a:rPr sz="950" b="0">
                <a:solidFill>
                  <a:srgbClr val="6B6860"/>
                </a:solidFill>
                <a:latin typeface="DM Sans"/>
              </a:rPr>
              <a:t>Rastreamento automático de economias geradas.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comprovação objetiva do ROI da função de compras.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C7 · Negotiation Analytics — </a:t>
            </a:r>
            <a:r>
              <a:rPr sz="950" b="0">
                <a:solidFill>
                  <a:srgbClr val="6B6860"/>
                </a:solidFill>
                <a:latin typeface="DM Sans"/>
              </a:rPr>
              <a:t>Indicadores de efetividade de negociação.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melhoria contínua da estratégia negocial.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916"/>
                </a:solidFill>
                <a:latin typeface="Inter Tight"/>
              </a:rPr>
              <a:t>Fase C — Negotiation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916"/>
                </a:solidFill>
                <a:latin typeface="DM Sans"/>
              </a:rPr>
              <a:t>Objetivo:  </a:t>
            </a:r>
            <a:r>
              <a:rPr sz="1150" b="0">
                <a:solidFill>
                  <a:srgbClr val="6B6860"/>
                </a:solidFill>
                <a:latin typeface="DM Sans"/>
              </a:rPr>
              <a:t>Automatizar e estruturar o processo de negociação, ampliando consistência e economia comprovada.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FASE D · CONTRACT &amp; COMPLIANCE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10881360" cy="402336"/>
          </a:xfrm>
          <a:prstGeom prst="roundRect">
            <a:avLst>
              <a:gd name="adj" fmla="val 6000"/>
            </a:avLst>
          </a:prstGeom>
          <a:solidFill>
            <a:srgbClr val="F3EBF9"/>
          </a:solidFill>
          <a:ln w="12700">
            <a:solidFill>
              <a:srgbClr val="9B6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449"/>
            <a:ext cx="10332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9B6CC8"/>
                </a:solidFill>
                <a:latin typeface="DM Sans"/>
              </a:rPr>
              <a:t>Status: </a:t>
            </a:r>
            <a:r>
              <a:rPr sz="1100" b="1" dirty="0" err="1">
                <a:solidFill>
                  <a:srgbClr val="9B6CC8"/>
                </a:solidFill>
                <a:latin typeface="DM Sans"/>
              </a:rPr>
              <a:t>Planejado</a:t>
            </a:r>
            <a:endParaRPr sz="1100" b="1" dirty="0">
              <a:solidFill>
                <a:srgbClr val="1A1916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9601200" cy="3886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D1 · Contract Lifecycle Management — </a:t>
            </a:r>
            <a:r>
              <a:rPr sz="950" b="0">
                <a:solidFill>
                  <a:srgbClr val="6B6860"/>
                </a:solidFill>
                <a:latin typeface="DM Sans"/>
              </a:rPr>
              <a:t>Gestão do ciclo de vida completo de contratos.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rastreabilidade total de obrigações contratuais.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D2 · Compliance Agent — </a:t>
            </a:r>
            <a:r>
              <a:rPr sz="950" b="0">
                <a:solidFill>
                  <a:srgbClr val="6B6860"/>
                </a:solidFill>
                <a:latin typeface="DM Sans"/>
              </a:rPr>
              <a:t>Verificação automática de conformidade regulatória e de política interna.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redução de risco de não conformidade.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D3 · Clause Intelligence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Extração e análise automática de cláusulas contratuais.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identificação rápida de riscos em contratos extensos.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D4 · Renewal Alerts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Alertas automáticos de renovação e vencimento de contratos.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eliminação de renovações perdidas ou não negociadas.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D5 · Audit Trail — </a:t>
            </a:r>
            <a:r>
              <a:rPr sz="950" b="0">
                <a:solidFill>
                  <a:srgbClr val="6B6860"/>
                </a:solidFill>
                <a:latin typeface="DM Sans"/>
              </a:rPr>
              <a:t>Trilha de auditoria completa de decisões de compra.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conformidade auditável a qualquer momento.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D6 · Policy Engine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Motor de regras de política de compras configurável.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aplicação automática e consistente de políticas internas.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D7 · Legal Document Assistant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Assistente de IA para revisão documental jurídica.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revisão jurídica mais rápida com menor esforço manual.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916"/>
                </a:solidFill>
                <a:latin typeface="Inter Tight"/>
              </a:rPr>
              <a:t>Fase D — Contract &amp;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916"/>
                </a:solidFill>
                <a:latin typeface="DM Sans"/>
              </a:rPr>
              <a:t>Objetivo:  </a:t>
            </a:r>
            <a:r>
              <a:rPr sz="1150" b="0">
                <a:solidFill>
                  <a:srgbClr val="6B6860"/>
                </a:solidFill>
                <a:latin typeface="DM Sans"/>
              </a:rPr>
              <a:t>Garantir governança, conformidade e rastreabilidade completa do ciclo de vida contratual.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FASE E · SUPPLIER RISK &amp; ESG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10881360" cy="402336"/>
          </a:xfrm>
          <a:prstGeom prst="roundRect">
            <a:avLst>
              <a:gd name="adj" fmla="val 6000"/>
            </a:avLst>
          </a:prstGeom>
          <a:solidFill>
            <a:srgbClr val="F3EBF9"/>
          </a:solidFill>
          <a:ln w="12700">
            <a:solidFill>
              <a:srgbClr val="9B6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449"/>
            <a:ext cx="10332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9B6CC8"/>
                </a:solidFill>
                <a:latin typeface="DM Sans"/>
              </a:rPr>
              <a:t>Status: </a:t>
            </a:r>
            <a:r>
              <a:rPr sz="1100" b="1" dirty="0" err="1">
                <a:solidFill>
                  <a:srgbClr val="9B6CC8"/>
                </a:solidFill>
                <a:latin typeface="DM Sans"/>
              </a:rPr>
              <a:t>Planejado</a:t>
            </a:r>
            <a:endParaRPr sz="1100" b="1" dirty="0">
              <a:solidFill>
                <a:srgbClr val="1A1916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9601200" cy="3886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E1 · Risk Scoring Engine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Pontuação de risco de fornecedores em tempo real.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antecipação de riscos de fornecimento antes que ocorram.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E2 · ESG Assessment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Avaliação automática de critérios ambientais, sociais e de governança.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cadeia de suprimentos alinhada a metas de sustentabilidade.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E3 · Financial Health Monitor — </a:t>
            </a:r>
            <a:r>
              <a:rPr sz="950" b="0">
                <a:solidFill>
                  <a:srgbClr val="6B6860"/>
                </a:solidFill>
                <a:latin typeface="DM Sans"/>
              </a:rPr>
              <a:t>Monitoramento contínuo da saúde financeira de fornecedores.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redução de exposição a fornecedores em risco financeiro.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E4 · Supply Chain Mapping — </a:t>
            </a:r>
            <a:r>
              <a:rPr sz="950" b="0">
                <a:solidFill>
                  <a:srgbClr val="6B6860"/>
                </a:solidFill>
                <a:latin typeface="DM Sans"/>
              </a:rPr>
              <a:t>Mapeamento de dependências e concentração de fornecedores.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visibilidade de riscos de concentração/single-source.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E5 · Incident Response Agent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Agente de resposta a incidentes de fornecimento.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reação mais rápida a rupturas de fornecimento.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E6 · Diversity &amp; Inclusion Tracking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Acompanhamento de diversidade na base de fornecedores.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metas de diversidade mensuráveis e acompanhadas.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E7 · Risk Dashboard — </a:t>
            </a:r>
            <a:r>
              <a:rPr sz="950" b="0">
                <a:solidFill>
                  <a:srgbClr val="6B6860"/>
                </a:solidFill>
                <a:latin typeface="DM Sans"/>
              </a:rPr>
              <a:t>Painel consolidado de risco de fornecedores.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decisão de compra informada por risco, não apenas por preço.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916"/>
                </a:solidFill>
                <a:latin typeface="Inter Tight"/>
              </a:rPr>
              <a:t>Fase E — Supplier Risk &amp; ESG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916"/>
                </a:solidFill>
                <a:latin typeface="DM Sans"/>
              </a:rPr>
              <a:t>Objetivo:  </a:t>
            </a:r>
            <a:r>
              <a:rPr sz="1150" b="0">
                <a:solidFill>
                  <a:srgbClr val="6B6860"/>
                </a:solidFill>
                <a:latin typeface="DM Sans"/>
              </a:rPr>
              <a:t>Antecipar riscos de fornecimento e incorporar critérios ESG à decisão de compra.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FASE F · PREDICTIVE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10881360" cy="402336"/>
          </a:xfrm>
          <a:prstGeom prst="roundRect">
            <a:avLst>
              <a:gd name="adj" fmla="val 6000"/>
            </a:avLst>
          </a:prstGeom>
          <a:solidFill>
            <a:srgbClr val="F3EBF9"/>
          </a:solidFill>
          <a:ln w="12700">
            <a:solidFill>
              <a:srgbClr val="9B6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449"/>
            <a:ext cx="10332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9B6CC8"/>
                </a:solidFill>
                <a:latin typeface="DM Sans"/>
              </a:rPr>
              <a:t>Status: </a:t>
            </a:r>
            <a:r>
              <a:rPr sz="1100" b="1" dirty="0" err="1">
                <a:solidFill>
                  <a:srgbClr val="9B6CC8"/>
                </a:solidFill>
                <a:latin typeface="DM Sans"/>
              </a:rPr>
              <a:t>Planejado</a:t>
            </a:r>
            <a:endParaRPr sz="1100" b="1" dirty="0">
              <a:solidFill>
                <a:srgbClr val="1A1916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9601200" cy="3886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F1 · Demand Forecasting — </a:t>
            </a:r>
            <a:r>
              <a:rPr sz="950" b="0">
                <a:solidFill>
                  <a:srgbClr val="6B6860"/>
                </a:solidFill>
                <a:latin typeface="DM Sans"/>
              </a:rPr>
              <a:t>Previsão de demanda de compras por categoria.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planejamento de compras mais preciso e antecipado.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F2 · Price Prediction Models — </a:t>
            </a:r>
            <a:r>
              <a:rPr sz="950" b="0">
                <a:solidFill>
                  <a:srgbClr val="6B6860"/>
                </a:solidFill>
                <a:latin typeface="DM Sans"/>
              </a:rPr>
              <a:t>Modelos preditivos de variação de preços de mercado.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decisões de timing de compra mais vantajosas.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F3 · Anomaly Detection — </a:t>
            </a:r>
            <a:r>
              <a:rPr sz="950" b="0">
                <a:solidFill>
                  <a:srgbClr val="6B6860"/>
                </a:solidFill>
                <a:latin typeface="DM Sans"/>
              </a:rPr>
              <a:t>Detecção automática de anomalias em gastos e transações.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identificação precoce de fraude ou erro operacional.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F4 · Scenario Simulation — </a:t>
            </a:r>
            <a:r>
              <a:rPr sz="950" b="0">
                <a:solidFill>
                  <a:srgbClr val="6B6860"/>
                </a:solidFill>
                <a:latin typeface="DM Sans"/>
              </a:rPr>
              <a:t>Simulação de cenários de compra e impacto orçamentário.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decisões de compra testadas antes da execução.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F5 · Budget Optimization Agent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Agente de otimização de alocação orçamentária.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melhor uso do orçamento de compras disponível.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F6 · Executive Insights Engine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Geração automática de insights executivos.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liderança com visão clara sem análise manual.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F7 · Predictive KPI Suite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Conjunto de indicadores preditivos de performance de compras.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antecipação de tendências antes dos concorrentes.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916"/>
                </a:solidFill>
                <a:latin typeface="Inter Tight"/>
              </a:rPr>
              <a:t>Fase F — Predictive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916"/>
                </a:solidFill>
                <a:latin typeface="DM Sans"/>
              </a:rPr>
              <a:t>Objetivo:  </a:t>
            </a:r>
            <a:r>
              <a:rPr sz="1150" b="0">
                <a:solidFill>
                  <a:srgbClr val="6B6860"/>
                </a:solidFill>
                <a:latin typeface="DM Sans"/>
              </a:rPr>
              <a:t>Antecipar demanda, preços e riscos por meio de modelos preditivos aplicados a compras.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FASE G · MARKETPLACE &amp; INTEGRATIONS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10881360" cy="402336"/>
          </a:xfrm>
          <a:prstGeom prst="roundRect">
            <a:avLst>
              <a:gd name="adj" fmla="val 6000"/>
            </a:avLst>
          </a:prstGeom>
          <a:solidFill>
            <a:srgbClr val="F3EBF9"/>
          </a:solidFill>
          <a:ln w="12700">
            <a:solidFill>
              <a:srgbClr val="9B6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449"/>
            <a:ext cx="10332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9B6CC8"/>
                </a:solidFill>
                <a:latin typeface="DM Sans"/>
              </a:rPr>
              <a:t>Status: </a:t>
            </a:r>
            <a:r>
              <a:rPr sz="1100" b="1" dirty="0" err="1">
                <a:solidFill>
                  <a:srgbClr val="9B6CC8"/>
                </a:solidFill>
                <a:latin typeface="DM Sans"/>
              </a:rPr>
              <a:t>Planejado</a:t>
            </a:r>
            <a:endParaRPr sz="1100" b="1" dirty="0">
              <a:solidFill>
                <a:srgbClr val="1A1916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9601200" cy="3886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G1 · ERP Connectors — </a:t>
            </a:r>
            <a:r>
              <a:rPr sz="950" b="0">
                <a:solidFill>
                  <a:srgbClr val="6B6860"/>
                </a:solidFill>
                <a:latin typeface="DM Sans"/>
              </a:rPr>
              <a:t>Integrações nativas com os principais ERPs corporativos.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fluxo de dados unificado entre compras e sistemas corporativos.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G2 · Supplier Marketplace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Marketplace de fornecedores homologados dentro da plataforma.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acesso direto a fornecedores qualificados.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G3 · Punch-out Catalogs — </a:t>
            </a:r>
            <a:r>
              <a:rPr sz="950" b="0">
                <a:solidFill>
                  <a:srgbClr val="6B6860"/>
                </a:solidFill>
                <a:latin typeface="DM Sans"/>
              </a:rPr>
              <a:t>Catálogos eletrônicos integrados de fornecedores.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compra recorrente simplificada e sem fricção.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G4 · API Ecosystem — </a:t>
            </a:r>
            <a:r>
              <a:rPr sz="950" b="0">
                <a:solidFill>
                  <a:srgbClr val="6B6860"/>
                </a:solidFill>
                <a:latin typeface="DM Sans"/>
              </a:rPr>
              <a:t>Conjunto de APIs abertas para integrações de terceiros.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extensibilidade da plataforma para o ecossistema do cliente.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G5 · n8n Workflow Bridges — </a:t>
            </a:r>
            <a:r>
              <a:rPr sz="950" b="0">
                <a:solidFill>
                  <a:srgbClr val="6B6860"/>
                </a:solidFill>
                <a:latin typeface="DM Sans"/>
              </a:rPr>
              <a:t>Conectores de automação com n8n e ferramentas externas.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automação ponta a ponta entre sistemas.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G6 · Payment Integration — </a:t>
            </a:r>
            <a:r>
              <a:rPr sz="950" b="0">
                <a:solidFill>
                  <a:srgbClr val="6B6860"/>
                </a:solidFill>
                <a:latin typeface="DM Sans"/>
              </a:rPr>
              <a:t>Integração com sistemas de pagamento corporativo.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ciclo completo de compra ao pagamento sem sistemas paralelos.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G7 · Partner Ecosystem Program — </a:t>
            </a:r>
            <a:r>
              <a:rPr sz="950" b="0">
                <a:solidFill>
                  <a:srgbClr val="6B6860"/>
                </a:solidFill>
                <a:latin typeface="DM Sans"/>
              </a:rPr>
              <a:t>Programa de parceiros tecnológicos e de integração.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rede de parceiros ampliando o alcance da plataforma.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916"/>
                </a:solidFill>
                <a:latin typeface="Inter Tight"/>
              </a:rPr>
              <a:t>Fase G — Marketplace &amp; 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916"/>
                </a:solidFill>
                <a:latin typeface="DM Sans"/>
              </a:rPr>
              <a:t>Objetivo:  </a:t>
            </a:r>
            <a:r>
              <a:rPr sz="1150" b="0">
                <a:solidFill>
                  <a:srgbClr val="6B6860"/>
                </a:solidFill>
                <a:latin typeface="DM Sans"/>
              </a:rPr>
              <a:t>Conectar o +COMPRAS ao ecossistema corporativo e de fornecedores por meio de integrações abertas.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FASE H · SCALE &amp; GLOBAL ROLLOUT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10881360" cy="402336"/>
          </a:xfrm>
          <a:prstGeom prst="roundRect">
            <a:avLst>
              <a:gd name="adj" fmla="val 6000"/>
            </a:avLst>
          </a:prstGeom>
          <a:solidFill>
            <a:srgbClr val="F3EBF9"/>
          </a:solidFill>
          <a:ln w="12700">
            <a:solidFill>
              <a:srgbClr val="9B6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62449"/>
            <a:ext cx="10332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9B6CC8"/>
                </a:solidFill>
                <a:latin typeface="DM Sans"/>
              </a:rPr>
              <a:t>Status: </a:t>
            </a:r>
            <a:r>
              <a:rPr sz="1100" b="1" dirty="0" err="1">
                <a:solidFill>
                  <a:srgbClr val="9B6CC8"/>
                </a:solidFill>
                <a:latin typeface="DM Sans"/>
              </a:rPr>
              <a:t>Planejado</a:t>
            </a:r>
            <a:endParaRPr sz="1100" b="1" dirty="0">
              <a:solidFill>
                <a:srgbClr val="1A1916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9601200" cy="3886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H1 · Multi-Region Deployment — </a:t>
            </a:r>
            <a:r>
              <a:rPr sz="950" b="0">
                <a:solidFill>
                  <a:srgbClr val="6B6860"/>
                </a:solidFill>
                <a:latin typeface="DM Sans"/>
              </a:rPr>
              <a:t>Implantação em múltiplas regiões geográficas.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operação global com latência e compliance locais.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H2 · Multi-Currency &amp; Tax Engine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Motor de moedas e tributação multi-país.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compras internacionais sem retrabalho fiscal.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H3 · Localization Framework — </a:t>
            </a:r>
            <a:r>
              <a:rPr sz="950" b="0">
                <a:solidFill>
                  <a:srgbClr val="6B6860"/>
                </a:solidFill>
                <a:latin typeface="DM Sans"/>
              </a:rPr>
              <a:t>Framework de localização de idioma e regulação local.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adoção nativa em qualquer mercado.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H4 · Enterprise SLA Program — </a:t>
            </a:r>
            <a:r>
              <a:rPr sz="950" b="0">
                <a:solidFill>
                  <a:srgbClr val="6B6860"/>
                </a:solidFill>
                <a:latin typeface="DM Sans"/>
              </a:rPr>
              <a:t>Programa de SLA enterprise para clientes de grande porte.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confiabilidade compatível com operações críticas.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H5 · Advanced Observability — </a:t>
            </a:r>
            <a:r>
              <a:rPr sz="950" b="0">
                <a:solidFill>
                  <a:srgbClr val="6B6860"/>
                </a:solidFill>
                <a:latin typeface="DM Sans"/>
              </a:rPr>
              <a:t>Observabilidade completa (métricas, logs, tracing) em escala.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operação com visibilidade total em produção.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H6 · Horizontal Scalability — </a:t>
            </a:r>
            <a:r>
              <a:rPr sz="950" b="0">
                <a:solidFill>
                  <a:srgbClr val="6B6860"/>
                </a:solidFill>
                <a:latin typeface="DM Sans"/>
              </a:rPr>
              <a:t>Arquitetura pronta para escala horizontal e microsserviços.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crescimento sem limite técnico de performance.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A1916"/>
                </a:solidFill>
                <a:latin typeface="DM Sans"/>
              </a:rPr>
              <a:t>H7 · Global Center of Excellence — </a:t>
            </a:r>
            <a:r>
              <a:rPr sz="950" b="0">
                <a:solidFill>
                  <a:srgbClr val="6B6860"/>
                </a:solidFill>
                <a:latin typeface="DM Sans"/>
              </a:rPr>
              <a:t>Centro de excelência para suporte e evolução contínua da plataforma.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9B9890"/>
                </a:solidFill>
                <a:latin typeface="DM Mono"/>
              </a:rPr>
              <a:t>Valor esperado: </a:t>
            </a:r>
            <a:r>
              <a:rPr sz="900" b="0">
                <a:solidFill>
                  <a:srgbClr val="6B6860"/>
                </a:solidFill>
                <a:latin typeface="DM Sans"/>
              </a:rPr>
              <a:t>sustentação de longo prazo do valor entregue.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916"/>
                </a:solidFill>
                <a:latin typeface="Inter Tight"/>
              </a:rPr>
              <a:t>Fase H — Scale &amp; Global Rollout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1916"/>
                </a:solidFill>
                <a:latin typeface="DM Sans"/>
              </a:rPr>
              <a:t>Objetivo:  </a:t>
            </a:r>
            <a:r>
              <a:rPr sz="1150" b="0">
                <a:solidFill>
                  <a:srgbClr val="6B6860"/>
                </a:solidFill>
                <a:latin typeface="DM Sans"/>
              </a:rPr>
              <a:t>Preparar a plataforma para operação global, em escala e com sustentação de longo prazo.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PRÓXIMOS MARCOS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82296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Q4 2026</a:t>
            </a:r>
          </a:p>
          <a:p>
            <a:pPr algn="ctr"/>
            <a:r>
              <a:rPr sz="1050">
                <a:solidFill>
                  <a:srgbClr val="1A1916"/>
                </a:solidFill>
                <a:latin typeface="DM Mono"/>
              </a:rPr>
              <a:t>Conclusão da Fase A</a:t>
            </a:r>
          </a:p>
          <a:p>
            <a:pPr algn="ctr"/>
            <a:r>
              <a:rPr sz="1050">
                <a:solidFill>
                  <a:srgbClr val="1A1916"/>
                </a:solidFill>
                <a:latin typeface="DM Mono"/>
              </a:rPr>
              <a:t>(Foundation)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82296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Q1 2027</a:t>
            </a:r>
          </a:p>
          <a:p>
            <a:pPr algn="ctr"/>
            <a:r>
              <a:rPr sz="1050">
                <a:solidFill>
                  <a:srgbClr val="1A1916"/>
                </a:solidFill>
                <a:latin typeface="DM Mono"/>
              </a:rPr>
              <a:t>Início da Fase B</a:t>
            </a:r>
          </a:p>
          <a:p>
            <a:pPr algn="ctr"/>
            <a:r>
              <a:rPr sz="1050">
                <a:solidFill>
                  <a:srgbClr val="1A1916"/>
                </a:solidFill>
                <a:latin typeface="DM Mono"/>
              </a:rPr>
              <a:t>(Sourcing Intelligence)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82296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Q2 2027</a:t>
            </a:r>
          </a:p>
          <a:p>
            <a:pPr algn="ctr"/>
            <a:r>
              <a:rPr sz="1050">
                <a:solidFill>
                  <a:srgbClr val="1A1916"/>
                </a:solidFill>
                <a:latin typeface="DM Mono"/>
              </a:rPr>
              <a:t>Primeiras integrações de</a:t>
            </a:r>
          </a:p>
          <a:p>
            <a:pPr algn="ctr"/>
            <a:r>
              <a:rPr sz="1050">
                <a:solidFill>
                  <a:srgbClr val="1A1916"/>
                </a:solidFill>
                <a:latin typeface="DM Mono"/>
              </a:rPr>
              <a:t>fornecedores em produção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ROADMAP CONSOLIDADO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670733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2"/>
          <p:cNvSpPr/>
          <p:nvPr/>
        </p:nvSpPr>
        <p:spPr>
          <a:xfrm>
            <a:off x="3356533" y="1188720"/>
            <a:ext cx="2670733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2"/>
          <p:cNvSpPr/>
          <p:nvPr/>
        </p:nvSpPr>
        <p:spPr>
          <a:xfrm>
            <a:off x="6164426" y="1188720"/>
            <a:ext cx="2670733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2"/>
          <p:cNvSpPr/>
          <p:nvPr/>
        </p:nvSpPr>
        <p:spPr>
          <a:xfrm>
            <a:off x="8972319" y="1188720"/>
            <a:ext cx="2670733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2"/>
          <p:cNvSpPr/>
          <p:nvPr/>
        </p:nvSpPr>
        <p:spPr>
          <a:xfrm>
            <a:off x="548640" y="3294888"/>
            <a:ext cx="2670733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2"/>
          <p:cNvSpPr/>
          <p:nvPr/>
        </p:nvSpPr>
        <p:spPr>
          <a:xfrm>
            <a:off x="3356533" y="3294888"/>
            <a:ext cx="2670733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2"/>
          <p:cNvSpPr/>
          <p:nvPr/>
        </p:nvSpPr>
        <p:spPr>
          <a:xfrm>
            <a:off x="6164426" y="3294888"/>
            <a:ext cx="2670733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2"/>
          <p:cNvSpPr/>
          <p:nvPr/>
        </p:nvSpPr>
        <p:spPr>
          <a:xfrm>
            <a:off x="8972319" y="3294888"/>
            <a:ext cx="2670733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3232" y="1353312"/>
            <a:ext cx="219456" cy="219456"/>
          </a:xfrm>
          <a:prstGeom prst="ellipse">
            <a:avLst/>
          </a:prstGeom>
          <a:solidFill>
            <a:srgbClr val="4A90D9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3"/>
          <p:cNvSpPr/>
          <p:nvPr/>
        </p:nvSpPr>
        <p:spPr>
          <a:xfrm>
            <a:off x="3521125" y="1353312"/>
            <a:ext cx="219456" cy="219456"/>
          </a:xfrm>
          <a:prstGeom prst="ellipse">
            <a:avLst/>
          </a:prstGeom>
          <a:solidFill>
            <a:srgbClr val="9B6CC8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3"/>
          <p:cNvSpPr/>
          <p:nvPr/>
        </p:nvSpPr>
        <p:spPr>
          <a:xfrm>
            <a:off x="6329018" y="1353312"/>
            <a:ext cx="219456" cy="219456"/>
          </a:xfrm>
          <a:prstGeom prst="ellipse">
            <a:avLst/>
          </a:prstGeom>
          <a:solidFill>
            <a:srgbClr val="9B6CC8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3"/>
          <p:cNvSpPr/>
          <p:nvPr/>
        </p:nvSpPr>
        <p:spPr>
          <a:xfrm>
            <a:off x="9136911" y="1353312"/>
            <a:ext cx="219456" cy="219456"/>
          </a:xfrm>
          <a:prstGeom prst="ellipse">
            <a:avLst/>
          </a:prstGeom>
          <a:solidFill>
            <a:srgbClr val="9B6CC8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3"/>
          <p:cNvSpPr/>
          <p:nvPr/>
        </p:nvSpPr>
        <p:spPr>
          <a:xfrm>
            <a:off x="713232" y="3459480"/>
            <a:ext cx="219456" cy="219456"/>
          </a:xfrm>
          <a:prstGeom prst="ellipse">
            <a:avLst/>
          </a:prstGeom>
          <a:solidFill>
            <a:srgbClr val="9B6CC8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3"/>
          <p:cNvSpPr/>
          <p:nvPr/>
        </p:nvSpPr>
        <p:spPr>
          <a:xfrm>
            <a:off x="3521125" y="3459480"/>
            <a:ext cx="219456" cy="219456"/>
          </a:xfrm>
          <a:prstGeom prst="ellipse">
            <a:avLst/>
          </a:prstGeom>
          <a:solidFill>
            <a:srgbClr val="9B6CC8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3"/>
          <p:cNvSpPr/>
          <p:nvPr/>
        </p:nvSpPr>
        <p:spPr>
          <a:xfrm>
            <a:off x="6329018" y="3459480"/>
            <a:ext cx="219456" cy="219456"/>
          </a:xfrm>
          <a:prstGeom prst="ellipse">
            <a:avLst/>
          </a:prstGeom>
          <a:solidFill>
            <a:srgbClr val="9B6CC8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3"/>
          <p:cNvSpPr/>
          <p:nvPr/>
        </p:nvSpPr>
        <p:spPr>
          <a:xfrm>
            <a:off x="9136911" y="3459480"/>
            <a:ext cx="219456" cy="219456"/>
          </a:xfrm>
          <a:prstGeom prst="ellipse">
            <a:avLst/>
          </a:prstGeom>
          <a:solidFill>
            <a:srgbClr val="9B6CC8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645920"/>
            <a:ext cx="234154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916"/>
                </a:solidFill>
                <a:latin typeface="Inter Tight"/>
              </a:rPr>
              <a:t>Fase A · Foundation</a:t>
            </a:r>
          </a:p>
        </p:txBody>
      </p:sp>
      <p:sp>
        <p:nvSpPr>
          <p:cNvPr id="23" name="TextBox 4"/>
          <p:cNvSpPr txBox="1"/>
          <p:nvPr/>
        </p:nvSpPr>
        <p:spPr>
          <a:xfrm>
            <a:off x="3521125" y="1645920"/>
            <a:ext cx="234154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916"/>
                </a:solidFill>
                <a:latin typeface="Inter Tight"/>
              </a:rPr>
              <a:t>Fase B · Sourcing Intelligence</a:t>
            </a:r>
          </a:p>
        </p:txBody>
      </p:sp>
      <p:sp>
        <p:nvSpPr>
          <p:cNvPr id="24" name="TextBox 4"/>
          <p:cNvSpPr txBox="1"/>
          <p:nvPr/>
        </p:nvSpPr>
        <p:spPr>
          <a:xfrm>
            <a:off x="6329018" y="1645920"/>
            <a:ext cx="234154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916"/>
                </a:solidFill>
                <a:latin typeface="Inter Tight"/>
              </a:rPr>
              <a:t>Fase C · Negotiation Automation</a:t>
            </a:r>
          </a:p>
        </p:txBody>
      </p:sp>
      <p:sp>
        <p:nvSpPr>
          <p:cNvPr id="25" name="TextBox 4"/>
          <p:cNvSpPr txBox="1"/>
          <p:nvPr/>
        </p:nvSpPr>
        <p:spPr>
          <a:xfrm>
            <a:off x="9136911" y="1645920"/>
            <a:ext cx="234154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916"/>
                </a:solidFill>
                <a:latin typeface="Inter Tight"/>
              </a:rPr>
              <a:t>Fase D · Contract &amp; Compliance</a:t>
            </a:r>
          </a:p>
        </p:txBody>
      </p:sp>
      <p:sp>
        <p:nvSpPr>
          <p:cNvPr id="26" name="TextBox 4"/>
          <p:cNvSpPr txBox="1"/>
          <p:nvPr/>
        </p:nvSpPr>
        <p:spPr>
          <a:xfrm>
            <a:off x="713232" y="3752088"/>
            <a:ext cx="234154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916"/>
                </a:solidFill>
                <a:latin typeface="Inter Tight"/>
              </a:rPr>
              <a:t>Fase E · Supplier Risk &amp; ESG</a:t>
            </a:r>
          </a:p>
        </p:txBody>
      </p:sp>
      <p:sp>
        <p:nvSpPr>
          <p:cNvPr id="27" name="TextBox 4"/>
          <p:cNvSpPr txBox="1"/>
          <p:nvPr/>
        </p:nvSpPr>
        <p:spPr>
          <a:xfrm>
            <a:off x="3521125" y="3752088"/>
            <a:ext cx="234154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916"/>
                </a:solidFill>
                <a:latin typeface="Inter Tight"/>
              </a:rPr>
              <a:t>Fase F · Predictive Analytics</a:t>
            </a:r>
          </a:p>
        </p:txBody>
      </p:sp>
      <p:sp>
        <p:nvSpPr>
          <p:cNvPr id="28" name="TextBox 4"/>
          <p:cNvSpPr txBox="1"/>
          <p:nvPr/>
        </p:nvSpPr>
        <p:spPr>
          <a:xfrm>
            <a:off x="6329018" y="3752088"/>
            <a:ext cx="234154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916"/>
                </a:solidFill>
                <a:latin typeface="Inter Tight"/>
              </a:rPr>
              <a:t>Fase G · Marketplace &amp; Integrations</a:t>
            </a:r>
          </a:p>
        </p:txBody>
      </p:sp>
      <p:sp>
        <p:nvSpPr>
          <p:cNvPr id="29" name="TextBox 4"/>
          <p:cNvSpPr txBox="1"/>
          <p:nvPr/>
        </p:nvSpPr>
        <p:spPr>
          <a:xfrm>
            <a:off x="9136911" y="3752088"/>
            <a:ext cx="234154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916"/>
                </a:solidFill>
                <a:latin typeface="Inter Tight"/>
              </a:rPr>
              <a:t>Fase H · Scale &amp; Global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1680"/>
            <a:ext cx="2341549" cy="1008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860"/>
                </a:solidFill>
                <a:latin typeface="DM Sans"/>
              </a:rPr>
              <a:t>Estabelecer a arquitetura, o runtime de IA e a infraestrutura central que sustentam toda a plataforma +COMPRAS.</a:t>
            </a:r>
          </a:p>
          <a:p>
            <a:endParaRPr sz="850" b="0" i="0">
              <a:solidFill>
                <a:srgbClr val="6B6860"/>
              </a:solidFill>
              <a:latin typeface="DM Sans"/>
            </a:endParaRPr>
          </a:p>
          <a:p>
            <a:r>
              <a:rPr sz="850">
                <a:solidFill>
                  <a:srgbClr val="6B6860"/>
                </a:solidFill>
                <a:latin typeface="DM Sans"/>
              </a:rPr>
              <a:t>Status: Em andamento</a:t>
            </a:r>
          </a:p>
        </p:txBody>
      </p:sp>
      <p:sp>
        <p:nvSpPr>
          <p:cNvPr id="30" name="TextBox 5"/>
          <p:cNvSpPr txBox="1"/>
          <p:nvPr/>
        </p:nvSpPr>
        <p:spPr>
          <a:xfrm>
            <a:off x="3521125" y="2011680"/>
            <a:ext cx="2341549" cy="1008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860"/>
                </a:solidFill>
                <a:latin typeface="DM Sans"/>
              </a:rPr>
              <a:t>Prover inteligência de mercado e automação de sourcing para acelerar e qualificar a prospecção de fornecedores.</a:t>
            </a:r>
          </a:p>
          <a:p>
            <a:endParaRPr sz="850" b="0" i="0">
              <a:solidFill>
                <a:srgbClr val="6B6860"/>
              </a:solidFill>
              <a:latin typeface="DM Sans"/>
            </a:endParaRPr>
          </a:p>
          <a:p>
            <a:r>
              <a:rPr sz="850">
                <a:solidFill>
                  <a:srgbClr val="6B6860"/>
                </a:solidFill>
                <a:latin typeface="DM Sans"/>
              </a:rPr>
              <a:t>Status: Planejado</a:t>
            </a:r>
          </a:p>
        </p:txBody>
      </p:sp>
      <p:sp>
        <p:nvSpPr>
          <p:cNvPr id="31" name="TextBox 5"/>
          <p:cNvSpPr txBox="1"/>
          <p:nvPr/>
        </p:nvSpPr>
        <p:spPr>
          <a:xfrm>
            <a:off x="6329018" y="2011680"/>
            <a:ext cx="2341549" cy="1008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860"/>
                </a:solidFill>
                <a:latin typeface="DM Sans"/>
              </a:rPr>
              <a:t>Automatizar e estruturar o processo de negociação, ampliando consistência e economia comprovada.</a:t>
            </a:r>
          </a:p>
          <a:p>
            <a:endParaRPr sz="850" b="0" i="0">
              <a:solidFill>
                <a:srgbClr val="6B6860"/>
              </a:solidFill>
              <a:latin typeface="DM Sans"/>
            </a:endParaRPr>
          </a:p>
          <a:p>
            <a:r>
              <a:rPr sz="850">
                <a:solidFill>
                  <a:srgbClr val="6B6860"/>
                </a:solidFill>
                <a:latin typeface="DM Sans"/>
              </a:rPr>
              <a:t>Status: Planejado</a:t>
            </a:r>
          </a:p>
        </p:txBody>
      </p:sp>
      <p:sp>
        <p:nvSpPr>
          <p:cNvPr id="32" name="TextBox 5"/>
          <p:cNvSpPr txBox="1"/>
          <p:nvPr/>
        </p:nvSpPr>
        <p:spPr>
          <a:xfrm>
            <a:off x="9136911" y="2011680"/>
            <a:ext cx="2341549" cy="1008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860"/>
                </a:solidFill>
                <a:latin typeface="DM Sans"/>
              </a:rPr>
              <a:t>Garantir governança, conformidade e rastreabilidade completa do ciclo de vida contratual.</a:t>
            </a:r>
          </a:p>
          <a:p>
            <a:endParaRPr sz="850" b="0" i="0">
              <a:solidFill>
                <a:srgbClr val="6B6860"/>
              </a:solidFill>
              <a:latin typeface="DM Sans"/>
            </a:endParaRPr>
          </a:p>
          <a:p>
            <a:r>
              <a:rPr sz="850">
                <a:solidFill>
                  <a:srgbClr val="6B6860"/>
                </a:solidFill>
                <a:latin typeface="DM Sans"/>
              </a:rPr>
              <a:t>Status: Planejado</a:t>
            </a:r>
          </a:p>
        </p:txBody>
      </p:sp>
      <p:sp>
        <p:nvSpPr>
          <p:cNvPr id="33" name="TextBox 5"/>
          <p:cNvSpPr txBox="1"/>
          <p:nvPr/>
        </p:nvSpPr>
        <p:spPr>
          <a:xfrm>
            <a:off x="713232" y="4117848"/>
            <a:ext cx="2341549" cy="1008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860"/>
                </a:solidFill>
                <a:latin typeface="DM Sans"/>
              </a:rPr>
              <a:t>Antecipar riscos de fornecimento e incorporar critérios ESG à decisão de compra.</a:t>
            </a:r>
          </a:p>
          <a:p>
            <a:endParaRPr sz="850" b="0" i="0">
              <a:solidFill>
                <a:srgbClr val="6B6860"/>
              </a:solidFill>
              <a:latin typeface="DM Sans"/>
            </a:endParaRPr>
          </a:p>
          <a:p>
            <a:r>
              <a:rPr sz="850">
                <a:solidFill>
                  <a:srgbClr val="6B6860"/>
                </a:solidFill>
                <a:latin typeface="DM Sans"/>
              </a:rPr>
              <a:t>Status: Planejado</a:t>
            </a:r>
          </a:p>
        </p:txBody>
      </p:sp>
      <p:sp>
        <p:nvSpPr>
          <p:cNvPr id="34" name="TextBox 5"/>
          <p:cNvSpPr txBox="1"/>
          <p:nvPr/>
        </p:nvSpPr>
        <p:spPr>
          <a:xfrm>
            <a:off x="3521125" y="4117848"/>
            <a:ext cx="2341549" cy="1008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860"/>
                </a:solidFill>
                <a:latin typeface="DM Sans"/>
              </a:rPr>
              <a:t>Antecipar demanda, preços e riscos por meio de modelos preditivos aplicados a compras.</a:t>
            </a:r>
          </a:p>
          <a:p>
            <a:endParaRPr sz="850" b="0" i="0">
              <a:solidFill>
                <a:srgbClr val="6B6860"/>
              </a:solidFill>
              <a:latin typeface="DM Sans"/>
            </a:endParaRPr>
          </a:p>
          <a:p>
            <a:r>
              <a:rPr sz="850">
                <a:solidFill>
                  <a:srgbClr val="6B6860"/>
                </a:solidFill>
                <a:latin typeface="DM Sans"/>
              </a:rPr>
              <a:t>Status: Planejado</a:t>
            </a:r>
          </a:p>
        </p:txBody>
      </p:sp>
      <p:sp>
        <p:nvSpPr>
          <p:cNvPr id="35" name="TextBox 5"/>
          <p:cNvSpPr txBox="1"/>
          <p:nvPr/>
        </p:nvSpPr>
        <p:spPr>
          <a:xfrm>
            <a:off x="6329018" y="4117848"/>
            <a:ext cx="2341549" cy="1008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860"/>
                </a:solidFill>
                <a:latin typeface="DM Sans"/>
              </a:rPr>
              <a:t>Conectar o +COMPRAS ao ecossistema corporativo e de fornecedores por meio de integrações abertas.</a:t>
            </a:r>
          </a:p>
          <a:p>
            <a:endParaRPr sz="850" b="0" i="0">
              <a:solidFill>
                <a:srgbClr val="6B6860"/>
              </a:solidFill>
              <a:latin typeface="DM Sans"/>
            </a:endParaRPr>
          </a:p>
          <a:p>
            <a:r>
              <a:rPr sz="850">
                <a:solidFill>
                  <a:srgbClr val="6B6860"/>
                </a:solidFill>
                <a:latin typeface="DM Sans"/>
              </a:rPr>
              <a:t>Status: Planejado</a:t>
            </a:r>
          </a:p>
        </p:txBody>
      </p:sp>
      <p:sp>
        <p:nvSpPr>
          <p:cNvPr id="36" name="TextBox 5"/>
          <p:cNvSpPr txBox="1"/>
          <p:nvPr/>
        </p:nvSpPr>
        <p:spPr>
          <a:xfrm>
            <a:off x="9136911" y="4117848"/>
            <a:ext cx="2341549" cy="1008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860"/>
                </a:solidFill>
                <a:latin typeface="DM Sans"/>
              </a:rPr>
              <a:t>Preparar a plataforma para operação global, em escala e com sustentação de longo prazo.</a:t>
            </a:r>
          </a:p>
          <a:p>
            <a:endParaRPr sz="850" b="0" i="0">
              <a:solidFill>
                <a:srgbClr val="6B6860"/>
              </a:solidFill>
              <a:latin typeface="DM Sans"/>
            </a:endParaRPr>
          </a:p>
          <a:p>
            <a:r>
              <a:rPr sz="850">
                <a:solidFill>
                  <a:srgbClr val="6B6860"/>
                </a:solidFill>
                <a:latin typeface="DM Sans"/>
              </a:rPr>
              <a:t>Status: Planejado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INDICADORES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2"/>
          <p:cNvSpPr/>
          <p:nvPr/>
        </p:nvSpPr>
        <p:spPr>
          <a:xfrm>
            <a:off x="640080" y="3432048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3"/>
          <p:cNvSpPr/>
          <p:nvPr/>
        </p:nvSpPr>
        <p:spPr>
          <a:xfrm>
            <a:off x="896112" y="3688080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1916"/>
                </a:solidFill>
                <a:latin typeface="Inter Tight"/>
              </a:rPr>
              <a:t>Fases</a:t>
            </a:r>
          </a:p>
        </p:txBody>
      </p:sp>
      <p:sp>
        <p:nvSpPr>
          <p:cNvPr id="19" name="TextBox 4"/>
          <p:cNvSpPr txBox="1"/>
          <p:nvPr/>
        </p:nvSpPr>
        <p:spPr>
          <a:xfrm>
            <a:off x="1307592" y="3669792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1916"/>
                </a:solidFill>
                <a:latin typeface="Inter Tight"/>
              </a:rPr>
              <a:t>Agentes de IA Especializados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860"/>
                </a:solidFill>
                <a:latin typeface="DM Sans"/>
              </a:rPr>
              <a:t>8 fases estratégicas planejadas, de Foundation a Scale &amp; Global Rollout.</a:t>
            </a:r>
          </a:p>
        </p:txBody>
      </p:sp>
      <p:sp>
        <p:nvSpPr>
          <p:cNvPr id="20" name="TextBox 5"/>
          <p:cNvSpPr txBox="1"/>
          <p:nvPr/>
        </p:nvSpPr>
        <p:spPr>
          <a:xfrm>
            <a:off x="896112" y="4191000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860"/>
                </a:solidFill>
                <a:latin typeface="DM Sans"/>
              </a:rPr>
              <a:t>3+ planejados: Senior Buyer Agent, Negotiation Agent, Compliance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6"/>
          <p:cNvSpPr/>
          <p:nvPr/>
        </p:nvSpPr>
        <p:spPr>
          <a:xfrm>
            <a:off x="4343400" y="3432048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7"/>
          <p:cNvSpPr/>
          <p:nvPr/>
        </p:nvSpPr>
        <p:spPr>
          <a:xfrm>
            <a:off x="4599432" y="3688080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1916"/>
                </a:solidFill>
                <a:latin typeface="Inter Tight"/>
              </a:rPr>
              <a:t>Sprints</a:t>
            </a:r>
          </a:p>
        </p:txBody>
      </p:sp>
      <p:sp>
        <p:nvSpPr>
          <p:cNvPr id="23" name="TextBox 8"/>
          <p:cNvSpPr txBox="1"/>
          <p:nvPr/>
        </p:nvSpPr>
        <p:spPr>
          <a:xfrm>
            <a:off x="5010912" y="3669792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1916"/>
                </a:solidFill>
                <a:latin typeface="Inter Tight"/>
              </a:rPr>
              <a:t>Integrações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860"/>
                </a:solidFill>
                <a:latin typeface="DM Sans"/>
              </a:rPr>
              <a:t>56 sprints mapeadas no total (7 por fase).</a:t>
            </a:r>
          </a:p>
        </p:txBody>
      </p:sp>
      <p:sp>
        <p:nvSpPr>
          <p:cNvPr id="24" name="TextBox 9"/>
          <p:cNvSpPr txBox="1"/>
          <p:nvPr/>
        </p:nvSpPr>
        <p:spPr>
          <a:xfrm>
            <a:off x="4599432" y="4191000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860"/>
                </a:solidFill>
                <a:latin typeface="DM Sans"/>
              </a:rPr>
              <a:t>3 categorias planejadas: ERPs, n8n, APIs corporativas.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10"/>
          <p:cNvSpPr/>
          <p:nvPr/>
        </p:nvSpPr>
        <p:spPr>
          <a:xfrm>
            <a:off x="8046720" y="3432048"/>
            <a:ext cx="3383280" cy="1969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11"/>
          <p:cNvSpPr/>
          <p:nvPr/>
        </p:nvSpPr>
        <p:spPr>
          <a:xfrm>
            <a:off x="8302752" y="3688080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1916"/>
                </a:solidFill>
                <a:latin typeface="Inter Tight"/>
              </a:rPr>
              <a:t>Módulos SOMA BlueprintOS</a:t>
            </a:r>
          </a:p>
        </p:txBody>
      </p:sp>
      <p:sp>
        <p:nvSpPr>
          <p:cNvPr id="27" name="TextBox 12"/>
          <p:cNvSpPr txBox="1"/>
          <p:nvPr/>
        </p:nvSpPr>
        <p:spPr>
          <a:xfrm>
            <a:off x="8714232" y="3669792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A1916"/>
                </a:solidFill>
                <a:latin typeface="Inter Tight"/>
              </a:rPr>
              <a:t>Status Geral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860"/>
                </a:solidFill>
                <a:latin typeface="DM Sans"/>
              </a:rPr>
              <a:t>10 módulos: Identity, Planner, Workflow, Knowledge, Memory, Agents, Procurement, Notifications, Dashboard, Analytics.</a:t>
            </a:r>
          </a:p>
        </p:txBody>
      </p:sp>
      <p:sp>
        <p:nvSpPr>
          <p:cNvPr id="28" name="TextBox 13"/>
          <p:cNvSpPr txBox="1"/>
          <p:nvPr/>
        </p:nvSpPr>
        <p:spPr>
          <a:xfrm>
            <a:off x="8302752" y="4191000"/>
            <a:ext cx="2871216" cy="102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860"/>
                </a:solidFill>
                <a:latin typeface="DM Sans"/>
              </a:rPr>
              <a:t>Fase A em andamento — 12% do roadmap concluído.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ARQUITETURA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043318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1463040"/>
            <a:ext cx="19701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1916"/>
                </a:solidFill>
                <a:latin typeface="DM Mono"/>
              </a:rPr>
              <a:t>SOMA BlueprintOS</a:t>
            </a:r>
          </a:p>
          <a:p>
            <a:pPr algn="ctr"/>
            <a:r>
              <a:rPr sz="1000">
                <a:solidFill>
                  <a:srgbClr val="1A1916"/>
                </a:solidFill>
                <a:latin typeface="DM Mono"/>
              </a:rPr>
              <a:t>(Core Platform)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1958" y="1463040"/>
            <a:ext cx="21945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1414" y="1463040"/>
            <a:ext cx="2043318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47990" y="1463040"/>
            <a:ext cx="19701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1916"/>
                </a:solidFill>
                <a:latin typeface="DM Mono"/>
              </a:rPr>
              <a:t>Módulo</a:t>
            </a:r>
          </a:p>
          <a:p>
            <a:pPr algn="ctr"/>
            <a:r>
              <a:rPr sz="1000">
                <a:solidFill>
                  <a:srgbClr val="1A1916"/>
                </a:solidFill>
                <a:latin typeface="DM Mono"/>
              </a:rPr>
              <a:t>Procurement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4732" y="1463040"/>
            <a:ext cx="21945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188" y="1463040"/>
            <a:ext cx="2043318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10764" y="1463040"/>
            <a:ext cx="19701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1916"/>
                </a:solidFill>
                <a:latin typeface="DM Mono"/>
              </a:rPr>
              <a:t>Agentes</a:t>
            </a:r>
          </a:p>
          <a:p>
            <a:pPr algn="ctr"/>
            <a:r>
              <a:rPr sz="1000">
                <a:solidFill>
                  <a:srgbClr val="1A1916"/>
                </a:solidFill>
                <a:latin typeface="DM Mono"/>
              </a:rPr>
              <a:t>+COMPRAS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7506" y="1463040"/>
            <a:ext cx="21945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7" name="TextBox 10"/>
          <p:cNvSpPr txBox="1"/>
          <p:nvPr/>
        </p:nvSpPr>
        <p:spPr>
          <a:xfrm>
            <a:off x="9380280" y="1463040"/>
            <a:ext cx="21945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6962" y="1463040"/>
            <a:ext cx="2043318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1"/>
          <p:cNvSpPr/>
          <p:nvPr/>
        </p:nvSpPr>
        <p:spPr>
          <a:xfrm>
            <a:off x="9599736" y="1463040"/>
            <a:ext cx="2043318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3538" y="1463040"/>
            <a:ext cx="19701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1916"/>
                </a:solidFill>
                <a:latin typeface="DM Mono"/>
              </a:rPr>
              <a:t>Integrações</a:t>
            </a:r>
          </a:p>
        </p:txBody>
      </p:sp>
      <p:sp>
        <p:nvSpPr>
          <p:cNvPr id="19" name="TextBox 12"/>
          <p:cNvSpPr txBox="1"/>
          <p:nvPr/>
        </p:nvSpPr>
        <p:spPr>
          <a:xfrm>
            <a:off x="9636312" y="1463040"/>
            <a:ext cx="19701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1916"/>
                </a:solidFill>
                <a:latin typeface="DM Mono"/>
              </a:rPr>
              <a:t>Experiência</a:t>
            </a:r>
          </a:p>
          <a:p>
            <a:pPr algn="ctr"/>
            <a:r>
              <a:rPr sz="1000">
                <a:solidFill>
                  <a:srgbClr val="1A1916"/>
                </a:solidFill>
                <a:latin typeface="DM Mono"/>
              </a:rPr>
              <a:t>+COMPRAS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860"/>
                </a:solidFill>
                <a:latin typeface="DM Sans"/>
              </a:rPr>
              <a:t>1. SOMA BlueprintOS — Core Platform: Identity, Planner, Workflow, Knowledge, Memory e Agents Runtime.</a:t>
            </a:r>
          </a:p>
          <a:p>
            <a:r>
              <a:rPr sz="1150">
                <a:solidFill>
                  <a:srgbClr val="6B6860"/>
                </a:solidFill>
                <a:latin typeface="DM Sans"/>
              </a:rPr>
              <a:t>2. Módulo Procurement: regras e domínio de negócio de compras construídos sobre o Core Platform.</a:t>
            </a:r>
          </a:p>
          <a:p>
            <a:r>
              <a:rPr sz="1150">
                <a:solidFill>
                  <a:srgbClr val="6B6860"/>
                </a:solidFill>
                <a:latin typeface="DM Sans"/>
              </a:rPr>
              <a:t>3. Agentes especializados +COMPRAS: Senior Buyer, Negotiation, Compliance e Risk.</a:t>
            </a:r>
          </a:p>
          <a:p>
            <a:r>
              <a:rPr sz="1150">
                <a:solidFill>
                  <a:srgbClr val="6B6860"/>
                </a:solidFill>
                <a:latin typeface="DM Sans"/>
              </a:rPr>
              <a:t>4. Integrações: ERPs, Marketplace, n8n e APIs corporativas.</a:t>
            </a:r>
          </a:p>
          <a:p>
            <a:r>
              <a:rPr sz="1150">
                <a:solidFill>
                  <a:srgbClr val="6B6860"/>
                </a:solidFill>
                <a:latin typeface="DM Sans"/>
              </a:rPr>
              <a:t>5. Experiência +COMPRAS: interface executiva e portais para usuários finais.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2936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B9890"/>
                </a:solidFill>
                <a:latin typeface="DM Mono"/>
              </a:rPr>
              <a:t>+COMPRAS · Executive Edition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3293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B9890"/>
                </a:solidFill>
                <a:latin typeface="DM Mono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vement-bw-dipty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umo-a-2154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Inter Tight"/>
              </a:rPr>
              <a:t>Powered by SOMA BlueprintOS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DM Sans"/>
              </a:rPr>
              <a:t>Version 1.0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2377</Words>
  <Application>Microsoft Macintosh PowerPoint</Application>
  <PresentationFormat>Widescreen</PresentationFormat>
  <Paragraphs>293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Calibri</vt:lpstr>
      <vt:lpstr>DM Mono</vt:lpstr>
      <vt:lpstr>DM Sans</vt:lpstr>
      <vt:lpstr>Inter Tight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Julio Cesar</cp:lastModifiedBy>
  <cp:revision>1</cp:revision>
  <dcterms:created xsi:type="dcterms:W3CDTF">2013-01-27T09:14:16Z</dcterms:created>
  <dcterms:modified xsi:type="dcterms:W3CDTF">2026-07-23T18:51:32Z</dcterms:modified>
  <cp:category/>
</cp:coreProperties>
</file>