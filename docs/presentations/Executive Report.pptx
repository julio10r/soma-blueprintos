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itorial-desert-du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zzas-2154-mark-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095" y="365760"/>
            <a:ext cx="914400" cy="2962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20624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Inter Tight"/>
              </a:rPr>
              <a:t>SOMA BlueprintOS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8348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DM Sans"/>
              </a:rPr>
              <a:t>Plataforma Inteligente para Gestão Corporativa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321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DM Sans"/>
              </a:rPr>
              <a:t>Fundação tecnológica do +Compras e dos futuros produtos de IA da SOMA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RESUMO EXECUTIVO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759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O que 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Plataforma corporativa de IA, com agentes especializados e memória organizacional, para automação de processos de negócio.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9943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1091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Objetivo estratégico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Dar à SOMA uma base própria de IA, reutilizável além do +Compras.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0275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423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Valor para o negócio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Decisões de compra mais consistentes e conhecimento que não se perde com a rotatividade.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O PROBLEMA ATUAL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43000"/>
            <a:ext cx="10881360" cy="82296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 w="12700">
            <a:solidFill>
              <a:srgbClr val="E09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32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7A5A20"/>
                </a:solidFill>
                <a:latin typeface="DM Sans"/>
              </a:rPr>
              <a:t>O conhecimento de compras depende de pessoas, não de processo.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96012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64"/>
              </a:spcAft>
            </a:pPr>
            <a:r>
              <a:rPr sz="1500">
                <a:solidFill>
                  <a:srgbClr val="6B6860"/>
                </a:solidFill>
                <a:latin typeface="DM Sans"/>
              </a:rPr>
              <a:t>•  Negociações dependem fortemente da experiência individual do comprador.</a:t>
            </a:r>
          </a:p>
          <a:p>
            <a:pPr>
              <a:spcAft>
                <a:spcPts val="864"/>
              </a:spcAft>
            </a:pPr>
            <a:r>
              <a:rPr sz="1500">
                <a:solidFill>
                  <a:srgbClr val="6B6860"/>
                </a:solidFill>
                <a:latin typeface="DM Sans"/>
              </a:rPr>
              <a:t>•  Histórico de fornecedores fica disperso, sem memória organizacional consistente.</a:t>
            </a:r>
          </a:p>
          <a:p>
            <a:pPr>
              <a:spcAft>
                <a:spcPts val="864"/>
              </a:spcAft>
            </a:pPr>
            <a:r>
              <a:rPr sz="1500">
                <a:solidFill>
                  <a:srgbClr val="6B6860"/>
                </a:solidFill>
                <a:latin typeface="DM Sans"/>
              </a:rPr>
              <a:t>•  Conhecimento crítico se perde quando pessoas saem ou mudam de função.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A VISÃO DO BLUEPRINTOS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222504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280160"/>
            <a:ext cx="20787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PROGRAMA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65120" y="128016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85160" y="1280160"/>
            <a:ext cx="222504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58312" y="1280160"/>
            <a:ext cx="20787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BLUEPRINTOS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10200" y="128016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30240" y="1280160"/>
            <a:ext cx="222504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3392" y="1280160"/>
            <a:ext cx="20787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+COMPRAS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377440"/>
            <a:ext cx="1920240" cy="45720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77440"/>
            <a:ext cx="1920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1A1916"/>
                </a:solidFill>
                <a:latin typeface="DM Mono"/>
              </a:rPr>
              <a:t>AI FIRST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2377440"/>
            <a:ext cx="1920240" cy="45720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2377440"/>
            <a:ext cx="1920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1A1916"/>
                </a:solidFill>
                <a:latin typeface="DM Mono"/>
              </a:rPr>
              <a:t>MULTIAGENTES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2377440"/>
            <a:ext cx="1920240" cy="45720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2377440"/>
            <a:ext cx="1920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1A1916"/>
                </a:solidFill>
                <a:latin typeface="DM Mono"/>
              </a:rPr>
              <a:t>MODULAR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2377440"/>
            <a:ext cx="1920240" cy="45720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2377440"/>
            <a:ext cx="1920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1A1916"/>
                </a:solidFill>
                <a:latin typeface="DM Mono"/>
              </a:rPr>
              <a:t>REUTILIZÁVEL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291840"/>
            <a:ext cx="100584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64"/>
              </a:spcAft>
            </a:pPr>
            <a:r>
              <a:rPr sz="1400">
                <a:solidFill>
                  <a:srgbClr val="6B6860"/>
                </a:solidFill>
                <a:latin typeface="DM Sans"/>
              </a:rPr>
              <a:t>•  Plataforma corporativa de IA, não um produto isolado.</a:t>
            </a:r>
          </a:p>
          <a:p>
            <a:pPr>
              <a:spcAft>
                <a:spcPts val="864"/>
              </a:spcAft>
            </a:pPr>
            <a:r>
              <a:rPr sz="1400">
                <a:solidFill>
                  <a:srgbClr val="6B6860"/>
                </a:solidFill>
                <a:latin typeface="DM Sans"/>
              </a:rPr>
              <a:t>•  AI First: agentes de IA como unidade central de automação.</a:t>
            </a:r>
          </a:p>
          <a:p>
            <a:pPr>
              <a:spcAft>
                <a:spcPts val="864"/>
              </a:spcAft>
            </a:pPr>
            <a:r>
              <a:rPr sz="1400">
                <a:solidFill>
                  <a:srgbClr val="6B6860"/>
                </a:solidFill>
                <a:latin typeface="DM Sans"/>
              </a:rPr>
              <a:t>•  Multiagentes: especialistas independentes, coordenados por um orquestrador.</a:t>
            </a:r>
          </a:p>
          <a:p>
            <a:pPr>
              <a:spcAft>
                <a:spcPts val="864"/>
              </a:spcAft>
            </a:pPr>
            <a:r>
              <a:rPr sz="1400">
                <a:solidFill>
                  <a:srgbClr val="6B6860"/>
                </a:solidFill>
                <a:latin typeface="DM Sans"/>
              </a:rPr>
              <a:t>•  Base comum para o +Compras hoje e para novos produtos corporativos amanhã.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PRINCÍPIOS DA PLATAFORMA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759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AI First e Multiagentes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Automação por especialistas de IA coordenados.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9943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1091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Modular e Escalável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Cresce por módulos, sem reescrita.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0275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423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Segura, observável e integrável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Controle de acesso, rastreabilidade e conexão com sistemas corporativos.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ARQUITETURA DE ALTO NÍVEL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463040"/>
            <a:ext cx="201396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ENTRADA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00350" y="146304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2039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93542" y="1463040"/>
            <a:ext cx="201396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INTELIGÊNCIA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80660" y="146304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0070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73852" y="1463040"/>
            <a:ext cx="201396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DADOS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60970" y="146304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101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4162" y="1463040"/>
            <a:ext cx="201396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CONEXÃO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102412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B6860"/>
                </a:solidFill>
                <a:latin typeface="DM Sans"/>
              </a:rPr>
              <a:t>Frontend, APIs e AI Runtime, Banco de Dados e Integrações, e Observabilidade — uma solicitação entra pela API, é processada pelos agentes com apoio de memória e conhecimento, e o resultado volta com rastreabilidade.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546860" cy="77724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 w="15875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371600"/>
            <a:ext cx="1400556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4A90D9"/>
                </a:solidFill>
                <a:latin typeface="DM Mono"/>
              </a:rPr>
              <a:t>A — FUNDAÇÃO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86940" y="1371600"/>
            <a:ext cx="3200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06980" y="1371600"/>
            <a:ext cx="1546860" cy="77724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80132" y="1371600"/>
            <a:ext cx="1400556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B — PORTAL +COMPRAS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53840" y="1371600"/>
            <a:ext cx="3200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3880" y="1371600"/>
            <a:ext cx="1546860" cy="77724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47032" y="1371600"/>
            <a:ext cx="1400556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C — INTELIGÊNCIA OPERACIONAL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20740" y="1371600"/>
            <a:ext cx="3200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371600"/>
            <a:ext cx="1546860" cy="77724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3932" y="1371600"/>
            <a:ext cx="1400556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D — INTEGRAÇÃO CORPORATIVA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7640" y="1371600"/>
            <a:ext cx="3200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7680" y="1371600"/>
            <a:ext cx="1546860" cy="77724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0832" y="1371600"/>
            <a:ext cx="1400556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E — ANALYTICS E 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4540" y="1371600"/>
            <a:ext cx="3200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74580" y="1371600"/>
            <a:ext cx="1546860" cy="77724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47732" y="1371600"/>
            <a:ext cx="1400556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F — PRODUÇÃO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377440"/>
            <a:ext cx="1554480" cy="36576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377440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4A90D9"/>
                </a:solidFill>
                <a:latin typeface="DM Mono"/>
              </a:rPr>
              <a:t>EM ANDAMENTO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SITUAÇÃO ATUAL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43000"/>
            <a:ext cx="10881360" cy="822960"/>
          </a:xfrm>
          <a:prstGeom prst="roundRect">
            <a:avLst>
              <a:gd name="adj" fmla="val 6000"/>
            </a:avLst>
          </a:prstGeom>
          <a:solidFill>
            <a:srgbClr val="D8F3DC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32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4D38"/>
                </a:solidFill>
                <a:latin typeface="DM Sans"/>
              </a:rPr>
              <a:t>Motor de negociação e memória de fornecedores já apoiam o comprador sênior.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384048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54864" cy="1463040"/>
          </a:xfrm>
          <a:prstGeom prst="rect">
            <a:avLst/>
          </a:prstGeom>
          <a:solidFill>
            <a:srgbClr val="1A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9890"/>
                </a:solidFill>
                <a:latin typeface="DM Mono"/>
              </a:rPr>
              <a:t>EPIC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916"/>
                </a:solidFill>
                <a:latin typeface="Inter Tight"/>
              </a:rPr>
              <a:t>Em andamento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10241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B6860"/>
                </a:solidFill>
                <a:latin typeface="DM Sans"/>
              </a:rPr>
              <a:t>Base institucional: conhecimento organizacional e documentação oficial já entregues. Sprint atual: consolidação da documentação oficial da plataforma.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BENEFÍCIOS ESPERADOS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759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Negócio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Decisões de compra mais consistentes, apoiadas em dados reais.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9943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1091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Tecnologia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Arquitetura reutilizável por futuros produtos, sem retrabalho.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0275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423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Governança e 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Decisões rastreáveis e conhecimento organizacional preservado nos agentes.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PRÓXIMOS PASSOS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525780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7592" y="1426464"/>
            <a:ext cx="43342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A1916"/>
                </a:solidFill>
                <a:latin typeface="Inter Tight"/>
              </a:rPr>
              <a:t>Curto Prazo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947672"/>
            <a:ext cx="474573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B6860"/>
                </a:solidFill>
                <a:latin typeface="DM Sans"/>
              </a:rPr>
              <a:t>Concluir a Fundação e priorizar o próximo módulo que sustente o +Compras.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188720"/>
            <a:ext cx="525780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1967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31152" y="1426464"/>
            <a:ext cx="43342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A1916"/>
                </a:solidFill>
                <a:latin typeface="Inter Tight"/>
              </a:rPr>
              <a:t>Médio Prazo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1947672"/>
            <a:ext cx="474573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B6860"/>
                </a:solidFill>
                <a:latin typeface="DM Sans"/>
              </a:rPr>
              <a:t>Portal +Compras e Inteligência Operacional.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vement-bw-diptych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mo-a-2154-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495" y="1097280"/>
            <a:ext cx="4389120" cy="14007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377440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Inter Tight"/>
              </a:rPr>
              <a:t>O BlueprintOS já entrega valor real hoje através do apoio ao comprador sênior.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069080"/>
            <a:ext cx="27432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429768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E8E8E8"/>
                </a:solidFill>
                <a:latin typeface="DM Sans"/>
              </a:rPr>
              <a:t>É a base para o +Compras e os próximos produtos de IA da SOMA crescerem.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